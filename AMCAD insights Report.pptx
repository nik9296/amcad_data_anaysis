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7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6879" y="6284796"/>
            <a:ext cx="2939903" cy="4458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3847" y="2998165"/>
            <a:ext cx="9544304" cy="137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6332" y="2719323"/>
            <a:ext cx="10246995" cy="2569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k9296" TargetMode="External"/><Relationship Id="rId2" Type="http://schemas.openxmlformats.org/officeDocument/2006/relationships/hyperlink" Target="http://www.linkedin.com/in/nikhildivekar04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191"/>
            <a:ext cx="12188951" cy="66324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3941" y="4123499"/>
            <a:ext cx="601027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500" b="1" spc="85" dirty="0">
                <a:solidFill>
                  <a:srgbClr val="1F2023"/>
                </a:solidFill>
                <a:latin typeface="Times New Roman"/>
                <a:cs typeface="Times New Roman"/>
              </a:rPr>
              <a:t>M</a:t>
            </a:r>
            <a:r>
              <a:rPr sz="25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CA</a:t>
            </a:r>
            <a:r>
              <a:rPr sz="2500" b="1" spc="15" dirty="0">
                <a:solidFill>
                  <a:srgbClr val="1F2023"/>
                </a:solidFill>
                <a:latin typeface="Times New Roman"/>
                <a:cs typeface="Times New Roman"/>
              </a:rPr>
              <a:t>T</a:t>
            </a:r>
            <a:r>
              <a:rPr sz="2500" b="1" spc="-8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500" b="1" spc="-15" dirty="0">
                <a:solidFill>
                  <a:srgbClr val="1F2023"/>
                </a:solidFill>
                <a:latin typeface="Times New Roman"/>
                <a:cs typeface="Times New Roman"/>
              </a:rPr>
              <a:t>E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x</a:t>
            </a:r>
            <a:r>
              <a:rPr sz="25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p</a:t>
            </a:r>
            <a:r>
              <a:rPr sz="25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l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ora</a:t>
            </a:r>
            <a:r>
              <a:rPr sz="25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t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or</a:t>
            </a:r>
            <a:r>
              <a:rPr sz="25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y</a:t>
            </a:r>
            <a:r>
              <a:rPr sz="2500" b="1" spc="-23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5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D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5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t</a:t>
            </a:r>
            <a:r>
              <a:rPr sz="2500" b="1" spc="1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500" b="1" spc="-9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500" b="1" spc="-5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500" b="1" spc="-25" dirty="0">
                <a:solidFill>
                  <a:srgbClr val="1F2023"/>
                </a:solidFill>
                <a:latin typeface="Times New Roman"/>
                <a:cs typeface="Times New Roman"/>
              </a:rPr>
              <a:t>n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a</a:t>
            </a:r>
            <a:r>
              <a:rPr sz="25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l</a:t>
            </a:r>
            <a:r>
              <a:rPr sz="2500" b="1" spc="-30" dirty="0">
                <a:solidFill>
                  <a:srgbClr val="1F2023"/>
                </a:solidFill>
                <a:latin typeface="Times New Roman"/>
                <a:cs typeface="Times New Roman"/>
              </a:rPr>
              <a:t>y</a:t>
            </a:r>
            <a:r>
              <a:rPr sz="2500" b="1" spc="30" dirty="0">
                <a:solidFill>
                  <a:srgbClr val="1F2023"/>
                </a:solidFill>
                <a:latin typeface="Times New Roman"/>
                <a:cs typeface="Times New Roman"/>
              </a:rPr>
              <a:t>s</a:t>
            </a:r>
            <a:r>
              <a:rPr sz="2500" b="1" spc="-50" dirty="0">
                <a:solidFill>
                  <a:srgbClr val="1F2023"/>
                </a:solidFill>
                <a:latin typeface="Times New Roman"/>
                <a:cs typeface="Times New Roman"/>
              </a:rPr>
              <a:t>i</a:t>
            </a:r>
            <a:r>
              <a:rPr sz="2500" b="1" spc="5" dirty="0">
                <a:solidFill>
                  <a:srgbClr val="1F2023"/>
                </a:solidFill>
                <a:latin typeface="Times New Roman"/>
                <a:cs typeface="Times New Roman"/>
              </a:rPr>
              <a:t>s</a:t>
            </a:r>
            <a:r>
              <a:rPr sz="2500" b="1" spc="4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2500" b="1" spc="50" dirty="0">
                <a:solidFill>
                  <a:srgbClr val="1F2023"/>
                </a:solidFill>
                <a:latin typeface="Times New Roman"/>
                <a:cs typeface="Times New Roman"/>
              </a:rPr>
              <a:t>P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ro</a:t>
            </a:r>
            <a:r>
              <a:rPr sz="2500" b="1" spc="25" dirty="0">
                <a:solidFill>
                  <a:srgbClr val="1F2023"/>
                </a:solidFill>
                <a:latin typeface="Times New Roman"/>
                <a:cs typeface="Times New Roman"/>
              </a:rPr>
              <a:t>j</a:t>
            </a:r>
            <a:r>
              <a:rPr sz="2500" b="1" spc="40" dirty="0">
                <a:solidFill>
                  <a:srgbClr val="1F2023"/>
                </a:solidFill>
                <a:latin typeface="Times New Roman"/>
                <a:cs typeface="Times New Roman"/>
              </a:rPr>
              <a:t>e</a:t>
            </a:r>
            <a:r>
              <a:rPr sz="2500" b="1" spc="-35" dirty="0">
                <a:solidFill>
                  <a:srgbClr val="1F2023"/>
                </a:solidFill>
                <a:latin typeface="Times New Roman"/>
                <a:cs typeface="Times New Roman"/>
              </a:rPr>
              <a:t>c</a:t>
            </a:r>
            <a:r>
              <a:rPr sz="2500" b="1" spc="5" dirty="0">
                <a:solidFill>
                  <a:srgbClr val="1F2023"/>
                </a:solidFill>
                <a:latin typeface="Times New Roman"/>
                <a:cs typeface="Times New Roman"/>
              </a:rPr>
              <a:t>t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524000"/>
            <a:ext cx="10858958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/>
              <a:t>Background:</a:t>
            </a:r>
            <a:r>
              <a:rPr lang="en-US" sz="2000" dirty="0"/>
              <a:t> I am currently pursuing a Bachelor of Engineering in Artificial Intelligence and Data Science. My passion lies in harnessing the power of AI and data to solve real-world problems and drive innovation across various industries.</a:t>
            </a:r>
          </a:p>
          <a:p>
            <a:r>
              <a:rPr lang="en-US" sz="2000" b="1" dirty="0"/>
              <a:t>Motivation for Learning Data Science:</a:t>
            </a:r>
            <a:r>
              <a:rPr lang="en-US" sz="2000" dirty="0"/>
              <a:t> My interest in Data Science is fueled by the limitless possibilities it offers in terms of making informed, data-driven decisions. The ability to analyze complex datasets and extract valuable insights fascinates me, and I am eager to leverage this skillset to contribute meaningfully to the field.</a:t>
            </a:r>
          </a:p>
          <a:p>
            <a:r>
              <a:rPr lang="en-US" sz="2000" b="1" dirty="0"/>
              <a:t>Work Experience:</a:t>
            </a:r>
            <a:r>
              <a:rPr lang="en-US" sz="2000" dirty="0"/>
              <a:t> I have gained practical experience through internships in Data Science at IPCS Global and </a:t>
            </a:r>
            <a:r>
              <a:rPr lang="en-US" sz="2000" dirty="0" err="1"/>
              <a:t>Innomatics</a:t>
            </a:r>
            <a:r>
              <a:rPr lang="en-US" sz="2000" dirty="0"/>
              <a:t> Research Labs. These roles allowed me to work on real-world projects, such as predictive modeling, data analysis, and machine learning, further refining my technical skills and understanding of the field.</a:t>
            </a:r>
          </a:p>
          <a:p>
            <a:r>
              <a:rPr lang="en-US" sz="2000" b="1" dirty="0"/>
              <a:t>LinkedIn Profile: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Nikhil Divekar on LinkedIn</a:t>
            </a:r>
            <a:endParaRPr lang="en-US" sz="2000" dirty="0"/>
          </a:p>
          <a:p>
            <a:r>
              <a:rPr lang="en-US" sz="2000" b="1" dirty="0"/>
              <a:t>GitHub Profile: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Nikhil Divekar on GitHub</a:t>
            </a:r>
            <a:endParaRPr lang="en-US" sz="200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2541385" cy="50013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120" dirty="0">
                <a:solidFill>
                  <a:schemeClr val="tx1"/>
                </a:solidFill>
                <a:latin typeface="Tahoma"/>
                <a:cs typeface="Tahoma"/>
              </a:rPr>
              <a:t>About</a:t>
            </a:r>
            <a:r>
              <a:rPr sz="3150" spc="-11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3150" spc="-260" dirty="0">
                <a:solidFill>
                  <a:schemeClr val="tx1"/>
                </a:solidFill>
                <a:latin typeface="Tahoma"/>
                <a:cs typeface="Tahoma"/>
              </a:rPr>
              <a:t>me</a:t>
            </a:r>
            <a:endParaRPr sz="3150" dirty="0">
              <a:solidFill>
                <a:schemeClr val="tx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5391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Objective</a:t>
            </a:r>
            <a:r>
              <a:rPr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980628"/>
            <a:ext cx="10253980" cy="383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marR="10795" indent="-33909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objective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this </a:t>
            </a:r>
            <a:r>
              <a:rPr sz="1800" dirty="0">
                <a:latin typeface="Times New Roman"/>
                <a:cs typeface="Times New Roman"/>
              </a:rPr>
              <a:t>project </a:t>
            </a:r>
            <a:r>
              <a:rPr sz="1800" spc="-3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15" dirty="0">
                <a:latin typeface="Times New Roman"/>
                <a:cs typeface="Times New Roman"/>
              </a:rPr>
              <a:t>conduct </a:t>
            </a:r>
            <a:r>
              <a:rPr sz="1800" spc="-5" dirty="0">
                <a:latin typeface="Times New Roman"/>
                <a:cs typeface="Times New Roman"/>
              </a:rPr>
              <a:t>an in-depth </a:t>
            </a:r>
            <a:r>
              <a:rPr sz="1800" dirty="0">
                <a:latin typeface="Times New Roman"/>
                <a:cs typeface="Times New Roman"/>
              </a:rPr>
              <a:t>Exploratory </a:t>
            </a:r>
            <a:r>
              <a:rPr sz="1800" spc="-5" dirty="0">
                <a:latin typeface="Times New Roman"/>
                <a:cs typeface="Times New Roman"/>
              </a:rPr>
              <a:t>Data </a:t>
            </a:r>
            <a:r>
              <a:rPr sz="1800" spc="-10" dirty="0">
                <a:latin typeface="Times New Roman"/>
                <a:cs typeface="Times New Roman"/>
              </a:rPr>
              <a:t>Analysis (EDA) </a:t>
            </a:r>
            <a:r>
              <a:rPr sz="1800" spc="15" dirty="0">
                <a:latin typeface="Times New Roman"/>
                <a:cs typeface="Times New Roman"/>
              </a:rPr>
              <a:t>on </a:t>
            </a:r>
            <a:r>
              <a:rPr sz="1800" spc="1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Aspiring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Mind </a:t>
            </a:r>
            <a:r>
              <a:rPr sz="1800" spc="10" dirty="0">
                <a:latin typeface="Times New Roman"/>
                <a:cs typeface="Times New Roman"/>
              </a:rPr>
              <a:t>Employment </a:t>
            </a:r>
            <a:r>
              <a:rPr sz="1800" dirty="0">
                <a:latin typeface="Times New Roman"/>
                <a:cs typeface="Times New Roman"/>
              </a:rPr>
              <a:t>Outcome </a:t>
            </a:r>
            <a:r>
              <a:rPr sz="1800" spc="-30" dirty="0">
                <a:latin typeface="Times New Roman"/>
                <a:cs typeface="Times New Roman"/>
              </a:rPr>
              <a:t>2015 </a:t>
            </a:r>
            <a:r>
              <a:rPr sz="1800" dirty="0">
                <a:latin typeface="Times New Roman"/>
                <a:cs typeface="Times New Roman"/>
              </a:rPr>
              <a:t>(AMEO) dataset, focusing </a:t>
            </a:r>
            <a:r>
              <a:rPr sz="1800" spc="-5" dirty="0">
                <a:latin typeface="Times New Roman"/>
                <a:cs typeface="Times New Roman"/>
              </a:rPr>
              <a:t>specifically </a:t>
            </a:r>
            <a:r>
              <a:rPr sz="1800" spc="15" dirty="0">
                <a:latin typeface="Times New Roman"/>
                <a:cs typeface="Times New Roman"/>
              </a:rPr>
              <a:t>on </a:t>
            </a:r>
            <a:r>
              <a:rPr sz="1800" spc="-5" dirty="0">
                <a:latin typeface="Times New Roman"/>
                <a:cs typeface="Times New Roman"/>
              </a:rPr>
              <a:t>engineering </a:t>
            </a:r>
            <a:r>
              <a:rPr sz="1800" spc="5" dirty="0">
                <a:latin typeface="Times New Roman"/>
                <a:cs typeface="Times New Roman"/>
              </a:rPr>
              <a:t>graduates.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 </a:t>
            </a:r>
            <a:r>
              <a:rPr sz="1800" spc="-10" dirty="0">
                <a:latin typeface="Times New Roman"/>
                <a:cs typeface="Times New Roman"/>
              </a:rPr>
              <a:t>comprises </a:t>
            </a:r>
            <a:r>
              <a:rPr sz="1800" spc="10" dirty="0">
                <a:latin typeface="Times New Roman"/>
                <a:cs typeface="Times New Roman"/>
              </a:rPr>
              <a:t>employment </a:t>
            </a:r>
            <a:r>
              <a:rPr sz="1800" spc="-5" dirty="0">
                <a:latin typeface="Times New Roman"/>
                <a:cs typeface="Times New Roman"/>
              </a:rPr>
              <a:t>outcomes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engineering </a:t>
            </a:r>
            <a:r>
              <a:rPr sz="1800" spc="-5" dirty="0">
                <a:latin typeface="Times New Roman"/>
                <a:cs typeface="Times New Roman"/>
              </a:rPr>
              <a:t>graduates, </a:t>
            </a:r>
            <a:r>
              <a:rPr sz="1800" spc="-15" dirty="0">
                <a:latin typeface="Times New Roman"/>
                <a:cs typeface="Times New Roman"/>
              </a:rPr>
              <a:t>including </a:t>
            </a:r>
            <a:r>
              <a:rPr sz="1800" spc="15" dirty="0">
                <a:latin typeface="Times New Roman"/>
                <a:cs typeface="Times New Roman"/>
              </a:rPr>
              <a:t>dependent </a:t>
            </a:r>
            <a:r>
              <a:rPr sz="1800" spc="-15" dirty="0">
                <a:latin typeface="Times New Roman"/>
                <a:cs typeface="Times New Roman"/>
              </a:rPr>
              <a:t>variables </a:t>
            </a:r>
            <a:r>
              <a:rPr sz="1800" spc="5" dirty="0">
                <a:latin typeface="Times New Roman"/>
                <a:cs typeface="Times New Roman"/>
              </a:rPr>
              <a:t>such </a:t>
            </a:r>
            <a:r>
              <a:rPr sz="1800" spc="-10" dirty="0">
                <a:latin typeface="Times New Roman"/>
                <a:cs typeface="Times New Roman"/>
              </a:rPr>
              <a:t>as 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Salary, </a:t>
            </a:r>
            <a:r>
              <a:rPr sz="1800" spc="15" dirty="0">
                <a:latin typeface="Times New Roman"/>
                <a:cs typeface="Times New Roman"/>
              </a:rPr>
              <a:t>Job </a:t>
            </a:r>
            <a:r>
              <a:rPr sz="1800" spc="-15" dirty="0">
                <a:latin typeface="Times New Roman"/>
                <a:cs typeface="Times New Roman"/>
              </a:rPr>
              <a:t>Titles, </a:t>
            </a:r>
            <a:r>
              <a:rPr sz="1800" spc="5" dirty="0">
                <a:latin typeface="Times New Roman"/>
                <a:cs typeface="Times New Roman"/>
              </a:rPr>
              <a:t>and </a:t>
            </a:r>
            <a:r>
              <a:rPr sz="1800" spc="15" dirty="0">
                <a:latin typeface="Times New Roman"/>
                <a:cs typeface="Times New Roman"/>
              </a:rPr>
              <a:t>Job </a:t>
            </a:r>
            <a:r>
              <a:rPr sz="1800" dirty="0">
                <a:latin typeface="Times New Roman"/>
                <a:cs typeface="Times New Roman"/>
              </a:rPr>
              <a:t>Locations,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spc="10" dirty="0">
                <a:latin typeface="Times New Roman"/>
                <a:cs typeface="Times New Roman"/>
              </a:rPr>
              <a:t>well </a:t>
            </a:r>
            <a:r>
              <a:rPr sz="1800" spc="-5" dirty="0">
                <a:latin typeface="Times New Roman"/>
                <a:cs typeface="Times New Roman"/>
              </a:rPr>
              <a:t>as standardized </a:t>
            </a:r>
            <a:r>
              <a:rPr sz="1800" dirty="0">
                <a:latin typeface="Times New Roman"/>
                <a:cs typeface="Times New Roman"/>
              </a:rPr>
              <a:t>scores </a:t>
            </a:r>
            <a:r>
              <a:rPr sz="1800" spc="10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three </a:t>
            </a:r>
            <a:r>
              <a:rPr sz="1800" spc="-5" dirty="0">
                <a:latin typeface="Times New Roman"/>
                <a:cs typeface="Times New Roman"/>
              </a:rPr>
              <a:t>different </a:t>
            </a:r>
            <a:r>
              <a:rPr sz="1800" spc="5" dirty="0">
                <a:latin typeface="Times New Roman"/>
                <a:cs typeface="Times New Roman"/>
              </a:rPr>
              <a:t>areas: </a:t>
            </a:r>
            <a:r>
              <a:rPr sz="1800" spc="-5" dirty="0">
                <a:latin typeface="Times New Roman"/>
                <a:cs typeface="Times New Roman"/>
              </a:rPr>
              <a:t>cognitive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skills,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technical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skills,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personality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skills.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Additionally,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contains demographic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features.</a:t>
            </a:r>
            <a:endParaRPr sz="1800">
              <a:latin typeface="Times New Roman"/>
              <a:cs typeface="Times New Roman"/>
            </a:endParaRPr>
          </a:p>
          <a:p>
            <a:pPr marL="351155" indent="-339090" algn="just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primary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goals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project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are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follows:</a:t>
            </a:r>
            <a:endParaRPr sz="1800">
              <a:latin typeface="Times New Roman"/>
              <a:cs typeface="Times New Roman"/>
            </a:endParaRPr>
          </a:p>
          <a:p>
            <a:pPr marL="524510" indent="-512445" algn="just">
              <a:lnSpc>
                <a:spcPct val="100000"/>
              </a:lnSpc>
              <a:spcBef>
                <a:spcPts val="1015"/>
              </a:spcBef>
              <a:buAutoNum type="arabicPeriod"/>
              <a:tabLst>
                <a:tab pos="525145" algn="l"/>
              </a:tabLst>
            </a:pPr>
            <a:r>
              <a:rPr sz="1800" spc="-5" dirty="0">
                <a:latin typeface="Times New Roman"/>
                <a:cs typeface="Times New Roman"/>
              </a:rPr>
              <a:t>Exploratory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Analysis</a:t>
            </a:r>
            <a:r>
              <a:rPr sz="1800" spc="10" dirty="0">
                <a:latin typeface="Times New Roman"/>
                <a:cs typeface="Times New Roman"/>
              </a:rPr>
              <a:t> (EDA):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Conduct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comprehensive exploratory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data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analysis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gain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insights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524510" algn="just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various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aspects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dataset.</a:t>
            </a:r>
            <a:endParaRPr sz="1800">
              <a:latin typeface="Times New Roman"/>
              <a:cs typeface="Times New Roman"/>
            </a:endParaRPr>
          </a:p>
          <a:p>
            <a:pPr marL="524510" marR="5080" indent="-512445" algn="just">
              <a:lnSpc>
                <a:spcPct val="100000"/>
              </a:lnSpc>
              <a:spcBef>
                <a:spcPts val="1015"/>
              </a:spcBef>
              <a:buAutoNum type="arabicPeriod" startAt="2"/>
              <a:tabLst>
                <a:tab pos="52514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Insight </a:t>
            </a:r>
            <a:r>
              <a:rPr sz="1800" spc="-5" dirty="0">
                <a:latin typeface="Times New Roman"/>
                <a:cs typeface="Times New Roman"/>
              </a:rPr>
              <a:t>Generation: Extract </a:t>
            </a:r>
            <a:r>
              <a:rPr sz="1800" spc="5" dirty="0">
                <a:latin typeface="Times New Roman"/>
                <a:cs typeface="Times New Roman"/>
              </a:rPr>
              <a:t>meaningful </a:t>
            </a:r>
            <a:r>
              <a:rPr sz="1800" spc="-5" dirty="0">
                <a:latin typeface="Times New Roman"/>
                <a:cs typeface="Times New Roman"/>
              </a:rPr>
              <a:t>insights </a:t>
            </a:r>
            <a:r>
              <a:rPr sz="1800" spc="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patterns </a:t>
            </a:r>
            <a:r>
              <a:rPr sz="1800" spc="-25" dirty="0">
                <a:latin typeface="Times New Roman"/>
                <a:cs typeface="Times New Roman"/>
              </a:rPr>
              <a:t>from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data </a:t>
            </a:r>
            <a:r>
              <a:rPr sz="1800" spc="-35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understand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employment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outcomes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engineering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graduates.</a:t>
            </a:r>
            <a:endParaRPr sz="1800">
              <a:latin typeface="Times New Roman"/>
              <a:cs typeface="Times New Roman"/>
            </a:endParaRPr>
          </a:p>
          <a:p>
            <a:pPr marL="524510" marR="6985" indent="-512445" algn="just">
              <a:lnSpc>
                <a:spcPct val="100000"/>
              </a:lnSpc>
              <a:spcBef>
                <a:spcPts val="1015"/>
              </a:spcBef>
              <a:buAutoNum type="arabicPeriod" startAt="2"/>
              <a:tabLst>
                <a:tab pos="525145" algn="l"/>
              </a:tabLst>
            </a:pPr>
            <a:r>
              <a:rPr sz="1800" spc="-5" dirty="0">
                <a:latin typeface="Times New Roman"/>
                <a:cs typeface="Times New Roman"/>
              </a:rPr>
              <a:t>Insightful </a:t>
            </a:r>
            <a:r>
              <a:rPr sz="1800" spc="5" dirty="0">
                <a:latin typeface="Times New Roman"/>
                <a:cs typeface="Times New Roman"/>
              </a:rPr>
              <a:t>Reporting: </a:t>
            </a:r>
            <a:r>
              <a:rPr sz="1800" spc="-5" dirty="0">
                <a:latin typeface="Times New Roman"/>
                <a:cs typeface="Times New Roman"/>
              </a:rPr>
              <a:t>Summarize </a:t>
            </a:r>
            <a:r>
              <a:rPr sz="1800" spc="10" dirty="0">
                <a:latin typeface="Times New Roman"/>
                <a:cs typeface="Times New Roman"/>
              </a:rPr>
              <a:t>the </a:t>
            </a:r>
            <a:r>
              <a:rPr sz="1800" spc="-5" dirty="0">
                <a:latin typeface="Times New Roman"/>
                <a:cs typeface="Times New Roman"/>
              </a:rPr>
              <a:t>findings </a:t>
            </a:r>
            <a:r>
              <a:rPr sz="1800" spc="5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insights </a:t>
            </a:r>
            <a:r>
              <a:rPr sz="1800" spc="-20" dirty="0">
                <a:latin typeface="Times New Roman"/>
                <a:cs typeface="Times New Roman"/>
              </a:rPr>
              <a:t>derived </a:t>
            </a:r>
            <a:r>
              <a:rPr sz="1800" spc="10" dirty="0">
                <a:latin typeface="Times New Roman"/>
                <a:cs typeface="Times New Roman"/>
              </a:rPr>
              <a:t>from the </a:t>
            </a:r>
            <a:r>
              <a:rPr sz="1800" spc="-10" dirty="0">
                <a:latin typeface="Times New Roman"/>
                <a:cs typeface="Times New Roman"/>
              </a:rPr>
              <a:t>EDA </a:t>
            </a:r>
            <a:r>
              <a:rPr sz="1800" spc="5" dirty="0">
                <a:latin typeface="Times New Roman"/>
                <a:cs typeface="Times New Roman"/>
              </a:rPr>
              <a:t>process </a:t>
            </a:r>
            <a:r>
              <a:rPr sz="1800" spc="-3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20" dirty="0">
                <a:latin typeface="Times New Roman"/>
                <a:cs typeface="Times New Roman"/>
              </a:rPr>
              <a:t>clear </a:t>
            </a:r>
            <a:r>
              <a:rPr sz="1800" spc="5" dirty="0">
                <a:latin typeface="Times New Roman"/>
                <a:cs typeface="Times New Roman"/>
              </a:rPr>
              <a:t>and 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concise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manner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47967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Summary</a:t>
            </a:r>
            <a:r>
              <a:rPr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953196"/>
            <a:ext cx="10257155" cy="36614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ts val="1950"/>
              </a:lnSpc>
              <a:spcBef>
                <a:spcPts val="340"/>
              </a:spcBef>
            </a:pP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5" dirty="0">
                <a:latin typeface="Times New Roman"/>
                <a:cs typeface="Times New Roman"/>
              </a:rPr>
              <a:t>Aspiring Mind </a:t>
            </a:r>
            <a:r>
              <a:rPr sz="1800" dirty="0">
                <a:latin typeface="Times New Roman"/>
                <a:cs typeface="Times New Roman"/>
              </a:rPr>
              <a:t>Employment Outcome </a:t>
            </a:r>
            <a:r>
              <a:rPr sz="1800" spc="-30" dirty="0">
                <a:latin typeface="Times New Roman"/>
                <a:cs typeface="Times New Roman"/>
              </a:rPr>
              <a:t>2015 </a:t>
            </a:r>
            <a:r>
              <a:rPr sz="1800" spc="-5" dirty="0">
                <a:latin typeface="Times New Roman"/>
                <a:cs typeface="Times New Roman"/>
              </a:rPr>
              <a:t>(AMEO) </a:t>
            </a:r>
            <a:r>
              <a:rPr sz="1800" dirty="0">
                <a:latin typeface="Times New Roman"/>
                <a:cs typeface="Times New Roman"/>
              </a:rPr>
              <a:t>dataset contains </a:t>
            </a:r>
            <a:r>
              <a:rPr sz="1800" spc="-5" dirty="0">
                <a:latin typeface="Times New Roman"/>
                <a:cs typeface="Times New Roman"/>
              </a:rPr>
              <a:t>comprehensive </a:t>
            </a:r>
            <a:r>
              <a:rPr sz="1800" spc="5" dirty="0">
                <a:latin typeface="Times New Roman"/>
                <a:cs typeface="Times New Roman"/>
              </a:rPr>
              <a:t>information </a:t>
            </a:r>
            <a:r>
              <a:rPr sz="1800" spc="-20" dirty="0">
                <a:latin typeface="Times New Roman"/>
                <a:cs typeface="Times New Roman"/>
              </a:rPr>
              <a:t>on </a:t>
            </a:r>
            <a:r>
              <a:rPr sz="1800" spc="-1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employment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outcomes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 </a:t>
            </a:r>
            <a:r>
              <a:rPr sz="1800" spc="-15" dirty="0">
                <a:latin typeface="Times New Roman"/>
                <a:cs typeface="Times New Roman"/>
              </a:rPr>
              <a:t>engineering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graduates,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dirty="0">
                <a:latin typeface="Times New Roman"/>
                <a:cs typeface="Times New Roman"/>
              </a:rPr>
              <a:t> a </a:t>
            </a:r>
            <a:r>
              <a:rPr sz="1800" spc="5" dirty="0">
                <a:latin typeface="Times New Roman"/>
                <a:cs typeface="Times New Roman"/>
              </a:rPr>
              <a:t>focus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various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factors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influencing </a:t>
            </a:r>
            <a:r>
              <a:rPr sz="1800" spc="5" dirty="0">
                <a:latin typeface="Times New Roman"/>
                <a:cs typeface="Times New Roman"/>
              </a:rPr>
              <a:t>their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career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trajectories.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Below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summary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primarily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limited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students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with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engineering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disciplines.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15" dirty="0">
                <a:latin typeface="Times New Roman"/>
                <a:cs typeface="Times New Roman"/>
              </a:rPr>
              <a:t>It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comprises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3998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data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points,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each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representing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individual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engineering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graduate.</a:t>
            </a:r>
            <a:endParaRPr sz="1800">
              <a:latin typeface="Times New Roman"/>
              <a:cs typeface="Times New Roman"/>
            </a:endParaRPr>
          </a:p>
          <a:p>
            <a:pPr marL="351155" marR="17780" indent="-339090">
              <a:lnSpc>
                <a:spcPts val="1950"/>
              </a:lnSpc>
              <a:spcBef>
                <a:spcPts val="1035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20" dirty="0">
                <a:latin typeface="Times New Roman"/>
                <a:cs typeface="Times New Roman"/>
              </a:rPr>
              <a:t>There </a:t>
            </a:r>
            <a:r>
              <a:rPr sz="1800" spc="-15" dirty="0">
                <a:latin typeface="Times New Roman"/>
                <a:cs typeface="Times New Roman"/>
              </a:rPr>
              <a:t>are </a:t>
            </a:r>
            <a:r>
              <a:rPr sz="1800" spc="20" dirty="0">
                <a:latin typeface="Times New Roman"/>
                <a:cs typeface="Times New Roman"/>
              </a:rPr>
              <a:t>around </a:t>
            </a:r>
            <a:r>
              <a:rPr sz="1800" spc="-20" dirty="0">
                <a:latin typeface="Times New Roman"/>
                <a:cs typeface="Times New Roman"/>
              </a:rPr>
              <a:t>37 </a:t>
            </a:r>
            <a:r>
              <a:rPr sz="1800" dirty="0">
                <a:latin typeface="Times New Roman"/>
                <a:cs typeface="Times New Roman"/>
              </a:rPr>
              <a:t>independent </a:t>
            </a:r>
            <a:r>
              <a:rPr sz="1800" spc="-10" dirty="0">
                <a:latin typeface="Times New Roman"/>
                <a:cs typeface="Times New Roman"/>
              </a:rPr>
              <a:t>variables, </a:t>
            </a:r>
            <a:r>
              <a:rPr sz="1800" spc="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1 </a:t>
            </a:r>
            <a:r>
              <a:rPr sz="1800" spc="10" dirty="0">
                <a:latin typeface="Times New Roman"/>
                <a:cs typeface="Times New Roman"/>
              </a:rPr>
              <a:t>dependent </a:t>
            </a:r>
            <a:r>
              <a:rPr sz="1800" spc="-15" dirty="0">
                <a:latin typeface="Times New Roman"/>
                <a:cs typeface="Times New Roman"/>
              </a:rPr>
              <a:t>variable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included </a:t>
            </a:r>
            <a:r>
              <a:rPr sz="1800" spc="-35" dirty="0">
                <a:latin typeface="Times New Roman"/>
                <a:cs typeface="Times New Roman"/>
              </a:rPr>
              <a:t>in </a:t>
            </a:r>
            <a:r>
              <a:rPr sz="1800" spc="10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dataset, encompassing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both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continuous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categorical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features.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10" dirty="0">
                <a:latin typeface="Times New Roman"/>
                <a:cs typeface="Times New Roman"/>
              </a:rPr>
              <a:t>Each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data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point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associated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with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unique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identifier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candidate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identification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purposes.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20" dirty="0">
                <a:latin typeface="Times New Roman"/>
                <a:cs typeface="Times New Roman"/>
              </a:rPr>
              <a:t>There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10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float,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17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12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object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variables.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spc="-20" dirty="0">
                <a:latin typeface="Times New Roman"/>
                <a:cs typeface="Times New Roman"/>
              </a:rPr>
              <a:t>Salary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variable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dependent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variable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lies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range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35K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4000K.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410" y="486105"/>
            <a:ext cx="5804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Exploratory</a:t>
            </a:r>
            <a:r>
              <a:rPr spc="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pc="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324" y="1584878"/>
            <a:ext cx="10437495" cy="27412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875"/>
              </a:spcBef>
              <a:buSzPct val="90000"/>
              <a:buFont typeface="Wingdings"/>
              <a:buChar char=""/>
              <a:tabLst>
                <a:tab pos="351155" algn="l"/>
                <a:tab pos="351790" algn="l"/>
              </a:tabLst>
            </a:pPr>
            <a:r>
              <a:rPr sz="2000" b="1" i="1" spc="5" dirty="0">
                <a:latin typeface="Times New Roman"/>
                <a:cs typeface="Times New Roman"/>
              </a:rPr>
              <a:t>Data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Cleaning</a:t>
            </a:r>
            <a:r>
              <a:rPr sz="2000" b="1" i="1" spc="-90" dirty="0">
                <a:latin typeface="Times New Roman"/>
                <a:cs typeface="Times New Roman"/>
              </a:rPr>
              <a:t> </a:t>
            </a:r>
            <a:r>
              <a:rPr sz="2000" b="1" i="1" spc="5" dirty="0">
                <a:latin typeface="Times New Roman"/>
                <a:cs typeface="Times New Roman"/>
              </a:rPr>
              <a:t>Steps</a:t>
            </a:r>
            <a:endParaRPr sz="200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685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10" dirty="0">
                <a:latin typeface="Times New Roman"/>
                <a:cs typeface="Times New Roman"/>
              </a:rPr>
              <a:t>Checked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for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null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values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duplicated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entries,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Unwanted  </a:t>
            </a:r>
            <a:r>
              <a:rPr sz="1550" spc="-10" dirty="0">
                <a:latin typeface="Times New Roman"/>
                <a:cs typeface="Times New Roman"/>
              </a:rPr>
              <a:t>columns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like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'Unnamed:</a:t>
            </a:r>
            <a:r>
              <a:rPr sz="1550" spc="3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0'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were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removed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from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dataset.</a:t>
            </a:r>
            <a:endParaRPr sz="1550">
              <a:latin typeface="Times New Roman"/>
              <a:cs typeface="Times New Roman"/>
            </a:endParaRPr>
          </a:p>
          <a:p>
            <a:pPr marL="524510" marR="183515" indent="-512445">
              <a:lnSpc>
                <a:spcPts val="1730"/>
              </a:lnSpc>
              <a:spcBef>
                <a:spcPts val="925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5" dirty="0">
                <a:latin typeface="Times New Roman"/>
                <a:cs typeface="Times New Roman"/>
              </a:rPr>
              <a:t>Converted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datetime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columns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such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'DOJ'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(Date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Joining),</a:t>
            </a:r>
            <a:r>
              <a:rPr sz="1550" spc="3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'DOB'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(Date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Birth),</a:t>
            </a:r>
            <a:r>
              <a:rPr sz="1550" spc="3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'DOL'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(Date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Leaving)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appropriate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datetime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format..</a:t>
            </a:r>
            <a:endParaRPr sz="155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595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5" dirty="0">
                <a:latin typeface="Times New Roman"/>
                <a:cs typeface="Times New Roman"/>
              </a:rPr>
              <a:t>Rectified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inconsistencies</a:t>
            </a:r>
            <a:r>
              <a:rPr sz="1550" spc="3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columns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like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'Designation',</a:t>
            </a:r>
            <a:r>
              <a:rPr sz="1550" spc="3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'JobCity', </a:t>
            </a:r>
            <a:r>
              <a:rPr sz="1550" spc="10" dirty="0">
                <a:latin typeface="Times New Roman"/>
                <a:cs typeface="Times New Roman"/>
              </a:rPr>
              <a:t>'10board',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'12board',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'Specialization'..</a:t>
            </a:r>
            <a:endParaRPr sz="155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580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dirty="0">
                <a:latin typeface="Times New Roman"/>
                <a:cs typeface="Times New Roman"/>
              </a:rPr>
              <a:t>Transformed</a:t>
            </a:r>
            <a:r>
              <a:rPr sz="1550" spc="2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columns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such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'collegeGPA'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'DOL'to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improve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consistency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accuracy..</a:t>
            </a:r>
            <a:endParaRPr sz="155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580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5" dirty="0">
                <a:latin typeface="Times New Roman"/>
                <a:cs typeface="Times New Roman"/>
              </a:rPr>
              <a:t>Filled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missing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values</a:t>
            </a:r>
            <a:r>
              <a:rPr sz="1550" spc="5" dirty="0">
                <a:latin typeface="Times New Roman"/>
                <a:cs typeface="Times New Roman"/>
              </a:rPr>
              <a:t> for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categorical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features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with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label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"Missing".</a:t>
            </a:r>
            <a:endParaRPr sz="155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580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10" dirty="0">
                <a:latin typeface="Times New Roman"/>
                <a:cs typeface="Times New Roman"/>
              </a:rPr>
              <a:t>After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completing</a:t>
            </a:r>
            <a:r>
              <a:rPr sz="1550" spc="26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cleaning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process,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dataset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now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appears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follows: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666" y="4510424"/>
            <a:ext cx="10956837" cy="1690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5799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Exploratory</a:t>
            </a:r>
            <a:r>
              <a:rPr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pc="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428375"/>
            <a:ext cx="10250170" cy="139192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255"/>
              </a:spcBef>
              <a:buSzPct val="90000"/>
              <a:buFont typeface="Wingdings"/>
              <a:buChar char=""/>
              <a:tabLst>
                <a:tab pos="351155" algn="l"/>
                <a:tab pos="351790" algn="l"/>
              </a:tabLst>
            </a:pPr>
            <a:r>
              <a:rPr sz="2000" b="1" i="1" dirty="0">
                <a:latin typeface="Times New Roman"/>
                <a:cs typeface="Times New Roman"/>
              </a:rPr>
              <a:t>Univariate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spcBef>
                <a:spcPts val="1100"/>
              </a:spcBef>
            </a:pPr>
            <a:r>
              <a:rPr sz="1550" spc="10" dirty="0">
                <a:latin typeface="Times New Roman"/>
                <a:cs typeface="Times New Roman"/>
              </a:rPr>
              <a:t>Performed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Univariate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Analysis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check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outliers,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skewness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data,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Range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values,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different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types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distribution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categorical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values.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550" spc="-10" dirty="0">
                <a:latin typeface="Times New Roman"/>
                <a:cs typeface="Times New Roman"/>
              </a:rPr>
              <a:t>Some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univariate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Analysis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Graphs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are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shown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below: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" y="2958800"/>
            <a:ext cx="3922776" cy="34207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5205" y="3064019"/>
            <a:ext cx="4178768" cy="3091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9320" y="400634"/>
            <a:ext cx="7442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Insights</a:t>
            </a:r>
            <a:r>
              <a:rPr spc="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Univariate</a:t>
            </a:r>
            <a:r>
              <a:rPr spc="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499552"/>
            <a:ext cx="10240645" cy="48247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50"/>
              </a:spcBef>
              <a:buFont typeface="Wingdings"/>
              <a:buChar char=""/>
              <a:tabLst>
                <a:tab pos="351155" algn="l"/>
                <a:tab pos="351790" algn="l"/>
              </a:tabLst>
            </a:pPr>
            <a:r>
              <a:rPr sz="1800" b="1" i="1" spc="5" dirty="0">
                <a:latin typeface="Times New Roman"/>
                <a:cs typeface="Times New Roman"/>
              </a:rPr>
              <a:t>Personal</a:t>
            </a:r>
            <a:r>
              <a:rPr sz="1800" b="1" i="1" spc="-90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905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20" dirty="0">
                <a:latin typeface="Times New Roman"/>
                <a:cs typeface="Times New Roman"/>
              </a:rPr>
              <a:t>23.9%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candidates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are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female,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while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76.1%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are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male.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1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dirty="0">
                <a:latin typeface="Times New Roman"/>
                <a:cs typeface="Times New Roman"/>
              </a:rPr>
              <a:t>Approximately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60%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candidates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were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born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between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years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1990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1992.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1285"/>
              </a:spcBef>
              <a:buFont typeface="Wingdings"/>
              <a:buChar char=""/>
              <a:tabLst>
                <a:tab pos="351155" algn="l"/>
                <a:tab pos="351790" algn="l"/>
              </a:tabLst>
            </a:pPr>
            <a:r>
              <a:rPr sz="1800" b="1" i="1" spc="10" dirty="0">
                <a:latin typeface="Times New Roman"/>
                <a:cs typeface="Times New Roman"/>
              </a:rPr>
              <a:t>X/XII</a:t>
            </a:r>
            <a:r>
              <a:rPr sz="1800" b="1" i="1" spc="-85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3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10th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percentile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distribution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left-skewed,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indicating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that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nearly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50%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students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scored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greater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than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or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equal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80.</a:t>
            </a:r>
            <a:endParaRPr sz="1550">
              <a:latin typeface="Times New Roman"/>
              <a:cs typeface="Times New Roman"/>
            </a:endParaRPr>
          </a:p>
          <a:p>
            <a:pPr marL="351155" marR="5080" indent="-339090">
              <a:lnSpc>
                <a:spcPts val="1730"/>
              </a:lnSpc>
              <a:spcBef>
                <a:spcPts val="1045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15" dirty="0">
                <a:latin typeface="Times New Roman"/>
                <a:cs typeface="Times New Roman"/>
              </a:rPr>
              <a:t>Similarly,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distribution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12th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percentile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scores</a:t>
            </a:r>
            <a:r>
              <a:rPr sz="1550" spc="3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also</a:t>
            </a:r>
            <a:r>
              <a:rPr sz="1550" spc="2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left-skewed,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suggesting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that</a:t>
            </a:r>
            <a:r>
              <a:rPr sz="1550" spc="26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only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approximately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33.3%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students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achieved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scores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80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or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higher.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40"/>
              </a:spcBef>
              <a:buFont typeface="Wingdings"/>
              <a:buChar char=""/>
              <a:tabLst>
                <a:tab pos="351155" algn="l"/>
                <a:tab pos="351790" algn="l"/>
              </a:tabLst>
            </a:pPr>
            <a:r>
              <a:rPr sz="1800" b="1" i="1" spc="10" dirty="0">
                <a:latin typeface="Times New Roman"/>
                <a:cs typeface="Times New Roman"/>
              </a:rPr>
              <a:t>College</a:t>
            </a:r>
            <a:r>
              <a:rPr sz="1800" b="1" i="1" spc="-110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90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20" dirty="0">
                <a:latin typeface="Times New Roman"/>
                <a:cs typeface="Times New Roman"/>
              </a:rPr>
              <a:t>92.5%</a:t>
            </a:r>
            <a:r>
              <a:rPr sz="1550" spc="15" dirty="0">
                <a:latin typeface="Times New Roman"/>
                <a:cs typeface="Times New Roman"/>
              </a:rPr>
              <a:t> 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candidates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attended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tier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2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colleges.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8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15" dirty="0">
                <a:latin typeface="Times New Roman"/>
                <a:cs typeface="Times New Roman"/>
              </a:rPr>
              <a:t>70%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candidates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attended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colleges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located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tier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2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cities.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85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dirty="0">
                <a:latin typeface="Times New Roman"/>
                <a:cs typeface="Times New Roman"/>
              </a:rPr>
              <a:t>Approximately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22%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candidates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graduated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from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colleges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Uttar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Pradesh.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1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15" dirty="0">
                <a:latin typeface="Times New Roman"/>
                <a:cs typeface="Times New Roman"/>
              </a:rPr>
              <a:t>50%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candidates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achieved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GPA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greater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than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2.8.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75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20" dirty="0">
                <a:latin typeface="Times New Roman"/>
                <a:cs typeface="Times New Roman"/>
              </a:rPr>
              <a:t>92.5%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candidates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hold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B.Tech/B.E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degree.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74428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Insights</a:t>
            </a:r>
            <a:r>
              <a:rPr spc="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Univariate</a:t>
            </a:r>
            <a:r>
              <a:rPr spc="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861502"/>
            <a:ext cx="10256520" cy="26631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825"/>
              </a:spcBef>
              <a:buFont typeface="Wingdings"/>
              <a:buChar char=""/>
              <a:tabLst>
                <a:tab pos="351155" algn="l"/>
                <a:tab pos="351790" algn="l"/>
              </a:tabLst>
            </a:pPr>
            <a:r>
              <a:rPr sz="1800" b="1" i="1" spc="20" dirty="0">
                <a:latin typeface="Times New Roman"/>
                <a:cs typeface="Times New Roman"/>
              </a:rPr>
              <a:t>Job</a:t>
            </a:r>
            <a:r>
              <a:rPr sz="1800" b="1" i="1" spc="-85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825"/>
              </a:spcBef>
              <a:buSzPct val="105882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majority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 </a:t>
            </a:r>
            <a:r>
              <a:rPr sz="1700" spc="15" dirty="0">
                <a:latin typeface="Times New Roman"/>
                <a:cs typeface="Times New Roman"/>
              </a:rPr>
              <a:t>candidates</a:t>
            </a:r>
            <a:r>
              <a:rPr sz="1700" spc="-16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are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based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in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Bengaluru,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Noida,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Hyderabad,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Pune,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Chennai,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Delhi/NCR.</a:t>
            </a:r>
            <a:endParaRPr sz="1700">
              <a:latin typeface="Times New Roman"/>
              <a:cs typeface="Times New Roman"/>
            </a:endParaRPr>
          </a:p>
          <a:p>
            <a:pPr marL="351155" indent="-339090">
              <a:lnSpc>
                <a:spcPts val="1960"/>
              </a:lnSpc>
              <a:spcBef>
                <a:spcPts val="770"/>
              </a:spcBef>
              <a:buSzPct val="105882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700" spc="-5" dirty="0">
                <a:latin typeface="Times New Roman"/>
                <a:cs typeface="Times New Roman"/>
              </a:rPr>
              <a:t>Approximately</a:t>
            </a:r>
            <a:r>
              <a:rPr sz="1700" spc="53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50% 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 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candidates</a:t>
            </a:r>
            <a:r>
              <a:rPr sz="1700" spc="4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</a:t>
            </a:r>
            <a:r>
              <a:rPr sz="1700" spc="5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positions</a:t>
            </a:r>
            <a:r>
              <a:rPr sz="1700" spc="50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as 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Software</a:t>
            </a:r>
            <a:r>
              <a:rPr sz="1700" spc="4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Engineers,</a:t>
            </a:r>
            <a:r>
              <a:rPr sz="1700" spc="5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Developers,</a:t>
            </a:r>
            <a:r>
              <a:rPr sz="1700" spc="53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or 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in</a:t>
            </a:r>
            <a:r>
              <a:rPr sz="1700" spc="52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various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other</a:t>
            </a:r>
            <a:endParaRPr sz="1700">
              <a:latin typeface="Times New Roman"/>
              <a:cs typeface="Times New Roman"/>
            </a:endParaRPr>
          </a:p>
          <a:p>
            <a:pPr marL="351155">
              <a:lnSpc>
                <a:spcPts val="1960"/>
              </a:lnSpc>
            </a:pPr>
            <a:r>
              <a:rPr sz="1700" dirty="0">
                <a:latin typeface="Times New Roman"/>
                <a:cs typeface="Times New Roman"/>
              </a:rPr>
              <a:t>engineering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fields.</a:t>
            </a:r>
            <a:endParaRPr sz="1700">
              <a:latin typeface="Times New Roman"/>
              <a:cs typeface="Times New Roman"/>
            </a:endParaRPr>
          </a:p>
          <a:p>
            <a:pPr marL="351155" indent="-339090">
              <a:lnSpc>
                <a:spcPts val="1960"/>
              </a:lnSpc>
              <a:spcBef>
                <a:spcPts val="770"/>
              </a:spcBef>
              <a:buSzPct val="105882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median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salary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for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candidates</a:t>
            </a:r>
            <a:r>
              <a:rPr sz="1700" spc="35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is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3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LPA,</a:t>
            </a:r>
            <a:r>
              <a:rPr sz="1700" spc="3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a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right-skewed</a:t>
            </a:r>
            <a:r>
              <a:rPr sz="1700" spc="3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distribution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indicating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a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higher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number</a:t>
            </a:r>
            <a:r>
              <a:rPr sz="1700" spc="37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of</a:t>
            </a:r>
            <a:endParaRPr sz="1700">
              <a:latin typeface="Times New Roman"/>
              <a:cs typeface="Times New Roman"/>
            </a:endParaRPr>
          </a:p>
          <a:p>
            <a:pPr marL="351155">
              <a:lnSpc>
                <a:spcPts val="1960"/>
              </a:lnSpc>
            </a:pPr>
            <a:r>
              <a:rPr sz="1700" dirty="0">
                <a:latin typeface="Times New Roman"/>
                <a:cs typeface="Times New Roman"/>
              </a:rPr>
              <a:t>outliers.</a:t>
            </a:r>
            <a:endParaRPr sz="17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70"/>
              </a:spcBef>
              <a:buSzPct val="105882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700" spc="5" dirty="0">
                <a:latin typeface="Times New Roman"/>
                <a:cs typeface="Times New Roman"/>
              </a:rPr>
              <a:t>Nearly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23%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 </a:t>
            </a:r>
            <a:r>
              <a:rPr sz="1700" spc="15" dirty="0">
                <a:latin typeface="Times New Roman"/>
                <a:cs typeface="Times New Roman"/>
              </a:rPr>
              <a:t>candidates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commenced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their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jobs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in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months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July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and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August.</a:t>
            </a:r>
            <a:endParaRPr sz="17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75"/>
              </a:spcBef>
              <a:buSzPct val="105882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700" spc="5" dirty="0">
                <a:latin typeface="Times New Roman"/>
                <a:cs typeface="Times New Roman"/>
              </a:rPr>
              <a:t>About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32%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candidates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departed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from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their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positions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month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of </a:t>
            </a:r>
            <a:r>
              <a:rPr sz="1700" spc="-15" dirty="0">
                <a:latin typeface="Times New Roman"/>
                <a:cs typeface="Times New Roman"/>
              </a:rPr>
              <a:t>April.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540080"/>
            <a:ext cx="3991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Bivariate</a:t>
            </a:r>
            <a:r>
              <a:rPr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601025"/>
            <a:ext cx="5972810" cy="277685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51155" marR="5080" indent="-339090">
              <a:lnSpc>
                <a:spcPts val="1730"/>
              </a:lnSpc>
              <a:spcBef>
                <a:spcPts val="30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10" dirty="0">
                <a:latin typeface="Times New Roman"/>
                <a:cs typeface="Times New Roman"/>
              </a:rPr>
              <a:t>Performed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Bivariate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Analysis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Examine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Relationships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Between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Different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Feature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Types:</a:t>
            </a:r>
            <a:endParaRPr sz="155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740"/>
              </a:spcBef>
              <a:buFont typeface="Wingdings"/>
              <a:buChar char=""/>
              <a:tabLst>
                <a:tab pos="351155" algn="l"/>
                <a:tab pos="351790" algn="l"/>
              </a:tabLst>
            </a:pPr>
            <a:r>
              <a:rPr sz="1800" b="1" i="1" spc="5" dirty="0">
                <a:latin typeface="Times New Roman"/>
                <a:cs typeface="Times New Roman"/>
              </a:rPr>
              <a:t>Numeric</a:t>
            </a:r>
            <a:r>
              <a:rPr sz="1800" b="1" i="1" spc="-10" dirty="0">
                <a:latin typeface="Times New Roman"/>
                <a:cs typeface="Times New Roman"/>
              </a:rPr>
              <a:t> </a:t>
            </a:r>
            <a:r>
              <a:rPr sz="1800" b="1" i="1" spc="5" dirty="0">
                <a:latin typeface="Times New Roman"/>
                <a:cs typeface="Times New Roman"/>
              </a:rPr>
              <a:t>Feature</a:t>
            </a:r>
            <a:r>
              <a:rPr sz="1800" b="1" i="1" spc="-7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with</a:t>
            </a:r>
            <a:r>
              <a:rPr sz="1800" b="1" i="1" spc="-75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Categorical</a:t>
            </a:r>
            <a:r>
              <a:rPr sz="1800" b="1" i="1" spc="-135" dirty="0">
                <a:latin typeface="Times New Roman"/>
                <a:cs typeface="Times New Roman"/>
              </a:rPr>
              <a:t> </a:t>
            </a:r>
            <a:r>
              <a:rPr sz="1800" b="1" i="1" spc="5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351155" marR="17780" indent="-339090">
              <a:lnSpc>
                <a:spcPts val="1730"/>
              </a:lnSpc>
              <a:spcBef>
                <a:spcPts val="100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15" dirty="0">
                <a:latin typeface="Times New Roman"/>
                <a:cs typeface="Times New Roman"/>
              </a:rPr>
              <a:t>Explored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relationship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between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numeric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and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categorical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features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techniques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such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as:</a:t>
            </a:r>
            <a:endParaRPr sz="1550">
              <a:latin typeface="Times New Roman"/>
              <a:cs typeface="Times New Roman"/>
            </a:endParaRPr>
          </a:p>
          <a:p>
            <a:pPr marL="351155" marR="8255" indent="-339090">
              <a:lnSpc>
                <a:spcPts val="1730"/>
              </a:lnSpc>
              <a:spcBef>
                <a:spcPts val="1010"/>
              </a:spcBef>
              <a:buSzPct val="116129"/>
              <a:buAutoNum type="arabicPeriod"/>
              <a:tabLst>
                <a:tab pos="351155" algn="l"/>
                <a:tab pos="351790" algn="l"/>
              </a:tabLst>
            </a:pPr>
            <a:r>
              <a:rPr sz="1550" spc="20" dirty="0">
                <a:latin typeface="Times New Roman"/>
                <a:cs typeface="Times New Roman"/>
              </a:rPr>
              <a:t>Box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plots:</a:t>
            </a:r>
            <a:r>
              <a:rPr sz="1550" spc="20" dirty="0">
                <a:latin typeface="Times New Roman"/>
                <a:cs typeface="Times New Roman"/>
              </a:rPr>
              <a:t> Examined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</a:t>
            </a:r>
            <a:r>
              <a:rPr sz="1550" spc="40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distribution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numeric</a:t>
            </a:r>
            <a:r>
              <a:rPr sz="1550" spc="4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values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across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different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categories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categorical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variables</a:t>
            </a:r>
            <a:endParaRPr sz="1550">
              <a:latin typeface="Times New Roman"/>
              <a:cs typeface="Times New Roman"/>
            </a:endParaRPr>
          </a:p>
          <a:p>
            <a:pPr marL="351155" marR="12065" indent="-339090" algn="just">
              <a:lnSpc>
                <a:spcPts val="1730"/>
              </a:lnSpc>
              <a:spcBef>
                <a:spcPts val="1010"/>
              </a:spcBef>
              <a:buSzPct val="116129"/>
              <a:buAutoNum type="arabicPeriod"/>
              <a:tabLst>
                <a:tab pos="351790" algn="l"/>
              </a:tabLst>
            </a:pPr>
            <a:r>
              <a:rPr sz="1550" spc="10" dirty="0">
                <a:latin typeface="Times New Roman"/>
                <a:cs typeface="Times New Roman"/>
              </a:rPr>
              <a:t>ANOVA </a:t>
            </a:r>
            <a:r>
              <a:rPr sz="1550" spc="15" dirty="0">
                <a:latin typeface="Times New Roman"/>
                <a:cs typeface="Times New Roman"/>
              </a:rPr>
              <a:t>test </a:t>
            </a:r>
            <a:r>
              <a:rPr sz="1550" spc="10" dirty="0">
                <a:latin typeface="Times New Roman"/>
                <a:cs typeface="Times New Roman"/>
              </a:rPr>
              <a:t>or </a:t>
            </a:r>
            <a:r>
              <a:rPr sz="1550" spc="15" dirty="0">
                <a:latin typeface="Times New Roman"/>
                <a:cs typeface="Times New Roman"/>
              </a:rPr>
              <a:t>independent </a:t>
            </a:r>
            <a:r>
              <a:rPr sz="1550" spc="25" dirty="0">
                <a:latin typeface="Times New Roman"/>
                <a:cs typeface="Times New Roman"/>
              </a:rPr>
              <a:t>ttest: </a:t>
            </a:r>
            <a:r>
              <a:rPr sz="1550" spc="20" dirty="0">
                <a:latin typeface="Times New Roman"/>
                <a:cs typeface="Times New Roman"/>
              </a:rPr>
              <a:t>Conducted </a:t>
            </a:r>
            <a:r>
              <a:rPr sz="1550" spc="5" dirty="0">
                <a:latin typeface="Times New Roman"/>
                <a:cs typeface="Times New Roman"/>
              </a:rPr>
              <a:t>analysis </a:t>
            </a:r>
            <a:r>
              <a:rPr sz="1550" spc="10" dirty="0">
                <a:latin typeface="Times New Roman"/>
                <a:cs typeface="Times New Roman"/>
              </a:rPr>
              <a:t>of </a:t>
            </a:r>
            <a:r>
              <a:rPr sz="1550" spc="20" dirty="0">
                <a:latin typeface="Times New Roman"/>
                <a:cs typeface="Times New Roman"/>
              </a:rPr>
              <a:t>variance </a:t>
            </a:r>
            <a:r>
              <a:rPr sz="1550" dirty="0">
                <a:latin typeface="Times New Roman"/>
                <a:cs typeface="Times New Roman"/>
              </a:rPr>
              <a:t>to 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determine </a:t>
            </a:r>
            <a:r>
              <a:rPr sz="1550" spc="15" dirty="0">
                <a:latin typeface="Times New Roman"/>
                <a:cs typeface="Times New Roman"/>
              </a:rPr>
              <a:t>significant </a:t>
            </a:r>
            <a:r>
              <a:rPr sz="1550" spc="10" dirty="0">
                <a:latin typeface="Times New Roman"/>
                <a:cs typeface="Times New Roman"/>
              </a:rPr>
              <a:t>differences </a:t>
            </a:r>
            <a:r>
              <a:rPr sz="1550" spc="5" dirty="0">
                <a:latin typeface="Times New Roman"/>
                <a:cs typeface="Times New Roman"/>
              </a:rPr>
              <a:t>in numeric </a:t>
            </a:r>
            <a:r>
              <a:rPr sz="1550" spc="15" dirty="0">
                <a:latin typeface="Times New Roman"/>
                <a:cs typeface="Times New Roman"/>
              </a:rPr>
              <a:t>values </a:t>
            </a:r>
            <a:r>
              <a:rPr sz="1550" spc="5" dirty="0">
                <a:latin typeface="Times New Roman"/>
                <a:cs typeface="Times New Roman"/>
              </a:rPr>
              <a:t>across different 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categories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categorical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variable.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1247" y="403970"/>
            <a:ext cx="11146155" cy="6245860"/>
            <a:chOff x="841247" y="403970"/>
            <a:chExt cx="11146155" cy="6245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633" y="403970"/>
              <a:ext cx="4869459" cy="57274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7" y="4875034"/>
              <a:ext cx="6382511" cy="1774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8413" y="1329373"/>
            <a:ext cx="10768965" cy="164655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50"/>
              </a:spcBef>
              <a:buFont typeface="Wingdings"/>
              <a:buChar char=""/>
              <a:tabLst>
                <a:tab pos="351155" algn="l"/>
                <a:tab pos="351790" algn="l"/>
              </a:tabLst>
            </a:pPr>
            <a:r>
              <a:rPr sz="1800" b="1" i="1" spc="10" dirty="0">
                <a:latin typeface="Times New Roman"/>
                <a:cs typeface="Times New Roman"/>
              </a:rPr>
              <a:t>Categorical</a:t>
            </a:r>
            <a:r>
              <a:rPr sz="1800" b="1" i="1" spc="-140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and</a:t>
            </a:r>
            <a:r>
              <a:rPr sz="1800" b="1" i="1" spc="-55" dirty="0">
                <a:latin typeface="Times New Roman"/>
                <a:cs typeface="Times New Roman"/>
              </a:rPr>
              <a:t> </a:t>
            </a:r>
            <a:r>
              <a:rPr sz="1800" b="1" i="1" spc="15" dirty="0">
                <a:latin typeface="Times New Roman"/>
                <a:cs typeface="Times New Roman"/>
              </a:rPr>
              <a:t>Categorical</a:t>
            </a:r>
            <a:r>
              <a:rPr sz="1800" b="1" i="1" spc="-165" dirty="0">
                <a:latin typeface="Times New Roman"/>
                <a:cs typeface="Times New Roman"/>
              </a:rPr>
              <a:t> </a:t>
            </a:r>
            <a:r>
              <a:rPr sz="1800" b="1" i="1" spc="5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351155" indent="-339090">
              <a:lnSpc>
                <a:spcPct val="100000"/>
              </a:lnSpc>
              <a:spcBef>
                <a:spcPts val="905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550" spc="-5" dirty="0">
                <a:latin typeface="Times New Roman"/>
                <a:cs typeface="Times New Roman"/>
              </a:rPr>
              <a:t>Investigated</a:t>
            </a:r>
            <a:r>
              <a:rPr sz="1550" spc="33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relationship</a:t>
            </a:r>
            <a:r>
              <a:rPr sz="1550" spc="26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between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two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categorical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features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through:</a:t>
            </a:r>
            <a:endParaRPr sz="1550">
              <a:latin typeface="Times New Roman"/>
              <a:cs typeface="Times New Roman"/>
            </a:endParaRPr>
          </a:p>
          <a:p>
            <a:pPr marL="524510" marR="5080" indent="-512445">
              <a:lnSpc>
                <a:spcPts val="1730"/>
              </a:lnSpc>
              <a:spcBef>
                <a:spcPts val="969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15" dirty="0">
                <a:latin typeface="Times New Roman"/>
                <a:cs typeface="Times New Roman"/>
              </a:rPr>
              <a:t>Crosstabulation:</a:t>
            </a:r>
            <a:r>
              <a:rPr sz="1550" spc="4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Generated</a:t>
            </a:r>
            <a:r>
              <a:rPr sz="1550" spc="409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contingency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tables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display 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frequency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distribution</a:t>
            </a:r>
            <a:r>
              <a:rPr sz="1550" spc="3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3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one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categorical</a:t>
            </a:r>
            <a:r>
              <a:rPr sz="1550" spc="41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variable  </a:t>
            </a:r>
            <a:r>
              <a:rPr sz="1550" spc="5" dirty="0">
                <a:latin typeface="Times New Roman"/>
                <a:cs typeface="Times New Roman"/>
              </a:rPr>
              <a:t>against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another.</a:t>
            </a:r>
            <a:endParaRPr sz="1550">
              <a:latin typeface="Times New Roman"/>
              <a:cs typeface="Times New Roman"/>
            </a:endParaRPr>
          </a:p>
          <a:p>
            <a:pPr marL="524510" indent="-512445">
              <a:lnSpc>
                <a:spcPct val="100000"/>
              </a:lnSpc>
              <a:spcBef>
                <a:spcPts val="595"/>
              </a:spcBef>
              <a:buSzPct val="116129"/>
              <a:buAutoNum type="arabicPeriod"/>
              <a:tabLst>
                <a:tab pos="524510" algn="l"/>
                <a:tab pos="525145" algn="l"/>
              </a:tabLst>
            </a:pPr>
            <a:r>
              <a:rPr sz="1550" spc="5" dirty="0">
                <a:latin typeface="Times New Roman"/>
                <a:cs typeface="Times New Roman"/>
              </a:rPr>
              <a:t>Chi-square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test: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Conducted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statistical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test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Times New Roman"/>
                <a:cs typeface="Times New Roman"/>
              </a:rPr>
              <a:t>assess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association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between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two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categorical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variables.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460" y="481025"/>
            <a:ext cx="3991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Bivariate</a:t>
            </a:r>
            <a:r>
              <a:rPr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351" y="3071620"/>
            <a:ext cx="9331215" cy="1746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794" y="4905663"/>
            <a:ext cx="8124029" cy="1531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3991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Bivariate</a:t>
            </a:r>
            <a:r>
              <a:rPr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870646"/>
            <a:ext cx="5582920" cy="23006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50"/>
              </a:spcBef>
              <a:buFont typeface="Wingdings"/>
              <a:buChar char=""/>
              <a:tabLst>
                <a:tab pos="351155" algn="l"/>
                <a:tab pos="351790" algn="l"/>
              </a:tabLst>
            </a:pPr>
            <a:r>
              <a:rPr sz="1800" b="1" i="1" spc="5" dirty="0">
                <a:latin typeface="Times New Roman"/>
                <a:cs typeface="Times New Roman"/>
              </a:rPr>
              <a:t>Numerical</a:t>
            </a:r>
            <a:r>
              <a:rPr sz="1800" b="1" i="1" spc="-70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and</a:t>
            </a:r>
            <a:r>
              <a:rPr sz="1800" b="1" i="1" spc="-55" dirty="0">
                <a:latin typeface="Times New Roman"/>
                <a:cs typeface="Times New Roman"/>
              </a:rPr>
              <a:t> </a:t>
            </a:r>
            <a:r>
              <a:rPr sz="1800" b="1" i="1" spc="5" dirty="0">
                <a:latin typeface="Times New Roman"/>
                <a:cs typeface="Times New Roman"/>
              </a:rPr>
              <a:t>Numerical</a:t>
            </a:r>
            <a:r>
              <a:rPr sz="1800" b="1" i="1" spc="-90" dirty="0">
                <a:latin typeface="Times New Roman"/>
                <a:cs typeface="Times New Roman"/>
              </a:rPr>
              <a:t> </a:t>
            </a:r>
            <a:r>
              <a:rPr sz="1800" b="1" i="1" spc="5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351155" marR="21590" indent="-339090">
              <a:lnSpc>
                <a:spcPts val="1730"/>
              </a:lnSpc>
              <a:spcBef>
                <a:spcPts val="1070"/>
              </a:spcBef>
              <a:buSzPct val="116129"/>
              <a:buFont typeface="Arial MT"/>
              <a:buChar char="•"/>
              <a:tabLst>
                <a:tab pos="351155" algn="l"/>
                <a:tab pos="351790" algn="l"/>
                <a:tab pos="1293495" algn="l"/>
                <a:tab pos="1668780" algn="l"/>
                <a:tab pos="2748915" algn="l"/>
                <a:tab pos="3983990" algn="l"/>
                <a:tab pos="4917440" algn="l"/>
              </a:tabLst>
            </a:pPr>
            <a:r>
              <a:rPr sz="1550" spc="55" dirty="0">
                <a:latin typeface="Times New Roman"/>
                <a:cs typeface="Times New Roman"/>
              </a:rPr>
              <a:t>E</a:t>
            </a:r>
            <a:r>
              <a:rPr sz="1550" spc="-60" dirty="0">
                <a:latin typeface="Times New Roman"/>
                <a:cs typeface="Times New Roman"/>
              </a:rPr>
              <a:t>x</a:t>
            </a:r>
            <a:r>
              <a:rPr sz="1550" spc="100" dirty="0">
                <a:latin typeface="Times New Roman"/>
                <a:cs typeface="Times New Roman"/>
              </a:rPr>
              <a:t>a</a:t>
            </a:r>
            <a:r>
              <a:rPr sz="1550" spc="-60" dirty="0">
                <a:latin typeface="Times New Roman"/>
                <a:cs typeface="Times New Roman"/>
              </a:rPr>
              <a:t>m</a:t>
            </a:r>
            <a:r>
              <a:rPr sz="1550" spc="70" dirty="0">
                <a:latin typeface="Times New Roman"/>
                <a:cs typeface="Times New Roman"/>
              </a:rPr>
              <a:t>i</a:t>
            </a:r>
            <a:r>
              <a:rPr sz="1550" spc="-60" dirty="0">
                <a:latin typeface="Times New Roman"/>
                <a:cs typeface="Times New Roman"/>
              </a:rPr>
              <a:t>n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spc="15" dirty="0">
                <a:latin typeface="Times New Roman"/>
                <a:cs typeface="Times New Roman"/>
              </a:rPr>
              <a:t>d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70" dirty="0">
                <a:latin typeface="Times New Roman"/>
                <a:cs typeface="Times New Roman"/>
              </a:rPr>
              <a:t>t</a:t>
            </a:r>
            <a:r>
              <a:rPr sz="1550" spc="-60" dirty="0">
                <a:latin typeface="Times New Roman"/>
                <a:cs typeface="Times New Roman"/>
              </a:rPr>
              <a:t>h</a:t>
            </a:r>
            <a:r>
              <a:rPr sz="1550" spc="15" dirty="0">
                <a:latin typeface="Times New Roman"/>
                <a:cs typeface="Times New Roman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5" dirty="0">
                <a:latin typeface="Times New Roman"/>
                <a:cs typeface="Times New Roman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l</a:t>
            </a:r>
            <a:r>
              <a:rPr sz="1550" spc="25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ti</a:t>
            </a:r>
            <a:r>
              <a:rPr sz="1550" spc="80" dirty="0">
                <a:latin typeface="Times New Roman"/>
                <a:cs typeface="Times New Roman"/>
              </a:rPr>
              <a:t>o</a:t>
            </a:r>
            <a:r>
              <a:rPr sz="1550" spc="-60" dirty="0">
                <a:latin typeface="Times New Roman"/>
                <a:cs typeface="Times New Roman"/>
              </a:rPr>
              <a:t>n</a:t>
            </a:r>
            <a:r>
              <a:rPr sz="1550" spc="110" dirty="0">
                <a:latin typeface="Times New Roman"/>
                <a:cs typeface="Times New Roman"/>
              </a:rPr>
              <a:t>s</a:t>
            </a:r>
            <a:r>
              <a:rPr sz="1550" spc="-60" dirty="0">
                <a:latin typeface="Times New Roman"/>
                <a:cs typeface="Times New Roman"/>
              </a:rPr>
              <a:t>h</a:t>
            </a:r>
            <a:r>
              <a:rPr sz="1550" dirty="0">
                <a:latin typeface="Times New Roman"/>
                <a:cs typeface="Times New Roman"/>
              </a:rPr>
              <a:t>i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15" dirty="0">
                <a:latin typeface="Times New Roman"/>
                <a:cs typeface="Times New Roman"/>
              </a:rPr>
              <a:t>b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spc="70" dirty="0">
                <a:latin typeface="Times New Roman"/>
                <a:cs typeface="Times New Roman"/>
              </a:rPr>
              <a:t>t</a:t>
            </a:r>
            <a:r>
              <a:rPr sz="1550" spc="-40" dirty="0">
                <a:latin typeface="Times New Roman"/>
                <a:cs typeface="Times New Roman"/>
              </a:rPr>
              <a:t>w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spc="100" dirty="0">
                <a:latin typeface="Times New Roman"/>
                <a:cs typeface="Times New Roman"/>
              </a:rPr>
              <a:t>e</a:t>
            </a:r>
            <a:r>
              <a:rPr sz="1550" spc="15" dirty="0">
                <a:latin typeface="Times New Roman"/>
                <a:cs typeface="Times New Roman"/>
              </a:rPr>
              <a:t>n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</a:t>
            </a:r>
            <a:r>
              <a:rPr sz="1550" spc="-40" dirty="0">
                <a:latin typeface="Times New Roman"/>
                <a:cs typeface="Times New Roman"/>
              </a:rPr>
              <a:t>w</a:t>
            </a:r>
            <a:r>
              <a:rPr sz="1550" spc="15" dirty="0">
                <a:latin typeface="Times New Roman"/>
                <a:cs typeface="Times New Roman"/>
              </a:rPr>
              <a:t>o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60" dirty="0">
                <a:latin typeface="Times New Roman"/>
                <a:cs typeface="Times New Roman"/>
              </a:rPr>
              <a:t>n</a:t>
            </a:r>
            <a:r>
              <a:rPr sz="1550" spc="80" dirty="0">
                <a:latin typeface="Times New Roman"/>
                <a:cs typeface="Times New Roman"/>
              </a:rPr>
              <a:t>u</a:t>
            </a:r>
            <a:r>
              <a:rPr sz="1550" spc="-60" dirty="0">
                <a:latin typeface="Times New Roman"/>
                <a:cs typeface="Times New Roman"/>
              </a:rPr>
              <a:t>m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spc="55" dirty="0">
                <a:latin typeface="Times New Roman"/>
                <a:cs typeface="Times New Roman"/>
              </a:rPr>
              <a:t>r</a:t>
            </a:r>
            <a:r>
              <a:rPr sz="1550" dirty="0">
                <a:latin typeface="Times New Roman"/>
                <a:cs typeface="Times New Roman"/>
              </a:rPr>
              <a:t>i</a:t>
            </a:r>
            <a:r>
              <a:rPr sz="1550" spc="25" dirty="0">
                <a:latin typeface="Times New Roman"/>
                <a:cs typeface="Times New Roman"/>
              </a:rPr>
              <a:t>ca</a:t>
            </a:r>
            <a:r>
              <a:rPr sz="1550" spc="10" dirty="0">
                <a:latin typeface="Times New Roman"/>
                <a:cs typeface="Times New Roman"/>
              </a:rPr>
              <a:t>l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5" dirty="0">
                <a:latin typeface="Times New Roman"/>
                <a:cs typeface="Times New Roman"/>
              </a:rPr>
              <a:t>f</a:t>
            </a:r>
            <a:r>
              <a:rPr sz="1550" spc="25" dirty="0">
                <a:latin typeface="Times New Roman"/>
                <a:cs typeface="Times New Roman"/>
              </a:rPr>
              <a:t>ea</a:t>
            </a:r>
            <a:r>
              <a:rPr sz="1550" dirty="0">
                <a:latin typeface="Times New Roman"/>
                <a:cs typeface="Times New Roman"/>
              </a:rPr>
              <a:t>t</a:t>
            </a:r>
            <a:r>
              <a:rPr sz="1550" spc="15" dirty="0">
                <a:latin typeface="Times New Roman"/>
                <a:cs typeface="Times New Roman"/>
              </a:rPr>
              <a:t>u</a:t>
            </a:r>
            <a:r>
              <a:rPr sz="1550" spc="-20" dirty="0">
                <a:latin typeface="Times New Roman"/>
                <a:cs typeface="Times New Roman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e</a:t>
            </a:r>
            <a:r>
              <a:rPr sz="1550" spc="10" dirty="0">
                <a:latin typeface="Times New Roman"/>
                <a:cs typeface="Times New Roman"/>
              </a:rPr>
              <a:t>s  </a:t>
            </a:r>
            <a:r>
              <a:rPr sz="1550" spc="-10" dirty="0">
                <a:latin typeface="Times New Roman"/>
                <a:cs typeface="Times New Roman"/>
              </a:rPr>
              <a:t>using:</a:t>
            </a:r>
            <a:endParaRPr sz="1550">
              <a:latin typeface="Times New Roman"/>
              <a:cs typeface="Times New Roman"/>
            </a:endParaRPr>
          </a:p>
          <a:p>
            <a:pPr marL="524510" marR="16510" indent="-512445" algn="just">
              <a:lnSpc>
                <a:spcPts val="1730"/>
              </a:lnSpc>
              <a:spcBef>
                <a:spcPts val="935"/>
              </a:spcBef>
              <a:buSzPct val="116129"/>
              <a:buAutoNum type="arabicPeriod"/>
              <a:tabLst>
                <a:tab pos="525145" algn="l"/>
              </a:tabLst>
            </a:pPr>
            <a:r>
              <a:rPr sz="1550" spc="15" dirty="0">
                <a:latin typeface="Times New Roman"/>
                <a:cs typeface="Times New Roman"/>
              </a:rPr>
              <a:t>Scatter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plots: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Visualized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relationship</a:t>
            </a:r>
            <a:r>
              <a:rPr sz="1550" spc="20" dirty="0">
                <a:latin typeface="Times New Roman"/>
                <a:cs typeface="Times New Roman"/>
              </a:rPr>
              <a:t> between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two 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numerical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variables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identify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patterns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or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correlations.</a:t>
            </a:r>
            <a:endParaRPr sz="1550">
              <a:latin typeface="Times New Roman"/>
              <a:cs typeface="Times New Roman"/>
            </a:endParaRPr>
          </a:p>
          <a:p>
            <a:pPr marL="524510" marR="5080" indent="-512445" algn="just">
              <a:lnSpc>
                <a:spcPts val="1730"/>
              </a:lnSpc>
              <a:spcBef>
                <a:spcPts val="1015"/>
              </a:spcBef>
              <a:buSzPct val="116129"/>
              <a:buAutoNum type="arabicPeriod"/>
              <a:tabLst>
                <a:tab pos="525145" algn="l"/>
              </a:tabLst>
            </a:pPr>
            <a:r>
              <a:rPr sz="1550" spc="15" dirty="0">
                <a:latin typeface="Times New Roman"/>
                <a:cs typeface="Times New Roman"/>
              </a:rPr>
              <a:t>Correlation </a:t>
            </a:r>
            <a:r>
              <a:rPr sz="1550" spc="20" dirty="0">
                <a:latin typeface="Times New Roman"/>
                <a:cs typeface="Times New Roman"/>
              </a:rPr>
              <a:t>analysis: </a:t>
            </a:r>
            <a:r>
              <a:rPr sz="1550" spc="15" dirty="0">
                <a:latin typeface="Times New Roman"/>
                <a:cs typeface="Times New Roman"/>
              </a:rPr>
              <a:t>Calculated </a:t>
            </a:r>
            <a:r>
              <a:rPr sz="1550" spc="25" dirty="0">
                <a:latin typeface="Times New Roman"/>
                <a:cs typeface="Times New Roman"/>
              </a:rPr>
              <a:t>correlation </a:t>
            </a:r>
            <a:r>
              <a:rPr sz="1550" spc="15" dirty="0">
                <a:latin typeface="Times New Roman"/>
                <a:cs typeface="Times New Roman"/>
              </a:rPr>
              <a:t>coefficients </a:t>
            </a:r>
            <a:r>
              <a:rPr sz="1550" spc="20" dirty="0">
                <a:latin typeface="Times New Roman"/>
                <a:cs typeface="Times New Roman"/>
              </a:rPr>
              <a:t>(e.g.,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Pearson </a:t>
            </a:r>
            <a:r>
              <a:rPr sz="1550" spc="25" dirty="0">
                <a:latin typeface="Times New Roman"/>
                <a:cs typeface="Times New Roman"/>
              </a:rPr>
              <a:t>correlation)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spc="15" dirty="0">
                <a:latin typeface="Times New Roman"/>
                <a:cs typeface="Times New Roman"/>
              </a:rPr>
              <a:t>quantify </a:t>
            </a:r>
            <a:r>
              <a:rPr sz="1550" spc="5" dirty="0">
                <a:latin typeface="Times New Roman"/>
                <a:cs typeface="Times New Roman"/>
              </a:rPr>
              <a:t>the </a:t>
            </a:r>
            <a:r>
              <a:rPr sz="1550" spc="30" dirty="0">
                <a:latin typeface="Times New Roman"/>
                <a:cs typeface="Times New Roman"/>
              </a:rPr>
              <a:t>strength </a:t>
            </a:r>
            <a:r>
              <a:rPr sz="1550" spc="20" dirty="0">
                <a:latin typeface="Times New Roman"/>
                <a:cs typeface="Times New Roman"/>
              </a:rPr>
              <a:t>and </a:t>
            </a:r>
            <a:r>
              <a:rPr sz="1550" spc="25" dirty="0">
                <a:latin typeface="Times New Roman"/>
                <a:cs typeface="Times New Roman"/>
              </a:rPr>
              <a:t>direction </a:t>
            </a:r>
            <a:r>
              <a:rPr sz="1550" spc="85" dirty="0">
                <a:latin typeface="Times New Roman"/>
                <a:cs typeface="Times New Roman"/>
              </a:rPr>
              <a:t>of 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linear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relationship</a:t>
            </a:r>
            <a:r>
              <a:rPr sz="1550" spc="2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between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numerical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variables.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8302" y="587393"/>
            <a:ext cx="5125106" cy="39011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3" y="4786640"/>
            <a:ext cx="9142482" cy="1225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2721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nclusi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1953196"/>
            <a:ext cx="10238740" cy="5238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1155" marR="5080" indent="-339090">
              <a:lnSpc>
                <a:spcPts val="1800"/>
              </a:lnSpc>
              <a:spcBef>
                <a:spcPts val="459"/>
              </a:spcBef>
              <a:buFont typeface="Arial MT"/>
              <a:buChar char="•"/>
              <a:tabLst>
                <a:tab pos="351155" algn="l"/>
                <a:tab pos="351790" algn="l"/>
              </a:tabLst>
            </a:pPr>
            <a:r>
              <a:rPr sz="1800" b="1" i="1" spc="20" dirty="0">
                <a:latin typeface="Times New Roman"/>
                <a:cs typeface="Times New Roman"/>
              </a:rPr>
              <a:t>Job</a:t>
            </a:r>
            <a:r>
              <a:rPr sz="1800" b="1" i="1" spc="95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Designation</a:t>
            </a:r>
            <a:r>
              <a:rPr sz="1800" b="1" i="1" spc="160" dirty="0">
                <a:latin typeface="Times New Roman"/>
                <a:cs typeface="Times New Roman"/>
              </a:rPr>
              <a:t> </a:t>
            </a:r>
            <a:r>
              <a:rPr sz="1800" b="1" i="1" spc="-15" dirty="0">
                <a:latin typeface="Times New Roman"/>
                <a:cs typeface="Times New Roman"/>
              </a:rPr>
              <a:t>and</a:t>
            </a:r>
            <a:r>
              <a:rPr sz="1800" b="1" i="1" spc="17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Salary:</a:t>
            </a:r>
            <a:r>
              <a:rPr sz="1800" b="1" i="1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There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clear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correlation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Times New Roman"/>
                <a:cs typeface="Times New Roman"/>
              </a:rPr>
              <a:t>between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job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designation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and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salary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levels,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indicating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that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certain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roles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command</a:t>
            </a:r>
            <a:r>
              <a:rPr sz="1550" spc="32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higher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compensation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packages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than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others.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6332" y="2548572"/>
            <a:ext cx="5116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1155" algn="l"/>
                <a:tab pos="351790" algn="l"/>
                <a:tab pos="1778635" algn="l"/>
                <a:tab pos="2757805" algn="l"/>
                <a:tab pos="3251835" algn="l"/>
                <a:tab pos="4002404" algn="l"/>
              </a:tabLst>
            </a:pPr>
            <a:r>
              <a:rPr sz="1800" b="1" i="1" dirty="0">
                <a:latin typeface="Times New Roman"/>
                <a:cs typeface="Times New Roman"/>
              </a:rPr>
              <a:t>Geographical	Location	</a:t>
            </a:r>
            <a:r>
              <a:rPr sz="1800" b="1" i="1" spc="-15" dirty="0">
                <a:latin typeface="Times New Roman"/>
                <a:cs typeface="Times New Roman"/>
              </a:rPr>
              <a:t>and	</a:t>
            </a:r>
            <a:r>
              <a:rPr sz="1800" b="1" i="1" dirty="0">
                <a:latin typeface="Times New Roman"/>
                <a:cs typeface="Times New Roman"/>
              </a:rPr>
              <a:t>Salary	Disparities: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9623" y="2576004"/>
            <a:ext cx="48831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1484" algn="l"/>
                <a:tab pos="1623060" algn="l"/>
                <a:tab pos="2409825" algn="l"/>
              </a:tabLst>
            </a:pPr>
            <a:r>
              <a:rPr sz="1550" spc="5" dirty="0">
                <a:latin typeface="Times New Roman"/>
                <a:cs typeface="Times New Roman"/>
              </a:rPr>
              <a:t>The	</a:t>
            </a:r>
            <a:r>
              <a:rPr sz="1550" spc="10" dirty="0">
                <a:latin typeface="Times New Roman"/>
                <a:cs typeface="Times New Roman"/>
              </a:rPr>
              <a:t>geographical	</a:t>
            </a:r>
            <a:r>
              <a:rPr sz="1550" spc="20" dirty="0">
                <a:latin typeface="Times New Roman"/>
                <a:cs typeface="Times New Roman"/>
              </a:rPr>
              <a:t>location	</a:t>
            </a:r>
            <a:r>
              <a:rPr sz="1550" spc="10" dirty="0">
                <a:latin typeface="Times New Roman"/>
                <a:cs typeface="Times New Roman"/>
              </a:rPr>
              <a:t>of 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employment 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significantly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810"/>
              </a:spcBef>
            </a:pPr>
            <a:r>
              <a:rPr spc="-5" dirty="0"/>
              <a:t>influences</a:t>
            </a:r>
            <a:r>
              <a:rPr spc="229" dirty="0"/>
              <a:t> </a:t>
            </a:r>
            <a:r>
              <a:rPr spc="15" dirty="0"/>
              <a:t>salary</a:t>
            </a:r>
            <a:r>
              <a:rPr spc="55" dirty="0"/>
              <a:t> </a:t>
            </a:r>
            <a:r>
              <a:rPr spc="5" dirty="0"/>
              <a:t>differentials,</a:t>
            </a:r>
            <a:r>
              <a:rPr spc="229" dirty="0"/>
              <a:t> </a:t>
            </a:r>
            <a:r>
              <a:rPr spc="-10" dirty="0"/>
              <a:t>with</a:t>
            </a:r>
            <a:r>
              <a:rPr spc="120" dirty="0"/>
              <a:t> </a:t>
            </a:r>
            <a:r>
              <a:rPr spc="10" dirty="0"/>
              <a:t>certain</a:t>
            </a:r>
            <a:r>
              <a:rPr spc="125" dirty="0"/>
              <a:t> </a:t>
            </a:r>
            <a:r>
              <a:rPr spc="10" dirty="0"/>
              <a:t>cities</a:t>
            </a:r>
            <a:r>
              <a:rPr spc="5" dirty="0"/>
              <a:t> </a:t>
            </a:r>
            <a:r>
              <a:rPr spc="-5" dirty="0"/>
              <a:t>offering</a:t>
            </a:r>
            <a:r>
              <a:rPr spc="270" dirty="0"/>
              <a:t> </a:t>
            </a:r>
            <a:r>
              <a:rPr spc="-25" dirty="0"/>
              <a:t>higher</a:t>
            </a:r>
            <a:r>
              <a:rPr spc="245" dirty="0"/>
              <a:t> </a:t>
            </a:r>
            <a:r>
              <a:rPr spc="5" dirty="0"/>
              <a:t>compensation</a:t>
            </a:r>
            <a:r>
              <a:rPr spc="275" dirty="0"/>
              <a:t> </a:t>
            </a:r>
            <a:r>
              <a:rPr spc="10" dirty="0"/>
              <a:t>compared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45" dirty="0"/>
              <a:t> </a:t>
            </a:r>
            <a:r>
              <a:rPr dirty="0"/>
              <a:t>others.</a:t>
            </a:r>
          </a:p>
          <a:p>
            <a:pPr marL="351155" marR="10160" indent="-339090" algn="just">
              <a:lnSpc>
                <a:spcPts val="1730"/>
              </a:lnSpc>
              <a:spcBef>
                <a:spcPts val="1190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Gender </a:t>
            </a:r>
            <a:r>
              <a:rPr sz="1800" b="1" i="1" spc="-15" dirty="0">
                <a:latin typeface="Times New Roman"/>
                <a:cs typeface="Times New Roman"/>
              </a:rPr>
              <a:t>and </a:t>
            </a:r>
            <a:r>
              <a:rPr sz="1800" b="1" i="1" spc="-10" dirty="0">
                <a:latin typeface="Times New Roman"/>
                <a:cs typeface="Times New Roman"/>
              </a:rPr>
              <a:t>Earning </a:t>
            </a:r>
            <a:r>
              <a:rPr sz="1800" b="1" i="1" spc="-5" dirty="0">
                <a:latin typeface="Times New Roman"/>
                <a:cs typeface="Times New Roman"/>
              </a:rPr>
              <a:t>Potential: </a:t>
            </a:r>
            <a:r>
              <a:rPr spc="10" dirty="0"/>
              <a:t>Gender </a:t>
            </a:r>
            <a:r>
              <a:rPr spc="15" dirty="0"/>
              <a:t>does </a:t>
            </a:r>
            <a:r>
              <a:rPr spc="-10" dirty="0"/>
              <a:t>not </a:t>
            </a:r>
            <a:r>
              <a:rPr spc="45" dirty="0"/>
              <a:t>seem </a:t>
            </a:r>
            <a:r>
              <a:rPr spc="5" dirty="0"/>
              <a:t>to </a:t>
            </a:r>
            <a:r>
              <a:rPr spc="15" dirty="0"/>
              <a:t>play a </a:t>
            </a:r>
            <a:r>
              <a:rPr spc="10" dirty="0"/>
              <a:t>significant </a:t>
            </a:r>
            <a:r>
              <a:rPr spc="20" dirty="0"/>
              <a:t>role </a:t>
            </a:r>
            <a:r>
              <a:rPr spc="40" dirty="0"/>
              <a:t>in </a:t>
            </a:r>
            <a:r>
              <a:rPr spc="20" dirty="0"/>
              <a:t>determining earning </a:t>
            </a:r>
            <a:r>
              <a:rPr spc="25" dirty="0"/>
              <a:t>potential, </a:t>
            </a:r>
            <a:r>
              <a:rPr spc="30" dirty="0"/>
              <a:t> </a:t>
            </a:r>
            <a:r>
              <a:rPr spc="-5" dirty="0"/>
              <a:t>suggesting</a:t>
            </a:r>
            <a:r>
              <a:rPr spc="265" dirty="0"/>
              <a:t> </a:t>
            </a:r>
            <a:r>
              <a:rPr spc="15" dirty="0"/>
              <a:t>a</a:t>
            </a:r>
            <a:r>
              <a:rPr spc="-15" dirty="0"/>
              <a:t> </a:t>
            </a:r>
            <a:r>
              <a:rPr spc="10" dirty="0"/>
              <a:t>relatively</a:t>
            </a:r>
            <a:r>
              <a:rPr spc="100" dirty="0"/>
              <a:t> </a:t>
            </a:r>
            <a:r>
              <a:rPr spc="15" dirty="0"/>
              <a:t>equitable</a:t>
            </a:r>
            <a:r>
              <a:rPr spc="120" dirty="0"/>
              <a:t> </a:t>
            </a:r>
            <a:r>
              <a:rPr spc="10" dirty="0"/>
              <a:t>distribution</a:t>
            </a:r>
            <a:r>
              <a:rPr spc="110" dirty="0"/>
              <a:t> </a:t>
            </a:r>
            <a:r>
              <a:rPr spc="10" dirty="0"/>
              <a:t>of</a:t>
            </a:r>
            <a:r>
              <a:rPr spc="20" dirty="0"/>
              <a:t> </a:t>
            </a:r>
            <a:r>
              <a:rPr spc="10" dirty="0"/>
              <a:t>salaries</a:t>
            </a:r>
            <a:r>
              <a:rPr spc="85" dirty="0"/>
              <a:t> </a:t>
            </a:r>
            <a:r>
              <a:rPr spc="15" dirty="0"/>
              <a:t>across</a:t>
            </a:r>
            <a:r>
              <a:rPr spc="5" dirty="0"/>
              <a:t> </a:t>
            </a:r>
            <a:r>
              <a:rPr dirty="0"/>
              <a:t>genders.</a:t>
            </a:r>
            <a:endParaRPr sz="1800">
              <a:latin typeface="Times New Roman"/>
              <a:cs typeface="Times New Roman"/>
            </a:endParaRPr>
          </a:p>
          <a:p>
            <a:pPr marL="351155" marR="5080" indent="-339090" algn="just">
              <a:lnSpc>
                <a:spcPts val="1730"/>
              </a:lnSpc>
              <a:spcBef>
                <a:spcPts val="1230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spc="-5" dirty="0">
                <a:latin typeface="Times New Roman"/>
                <a:cs typeface="Times New Roman"/>
              </a:rPr>
              <a:t>Educational</a:t>
            </a:r>
            <a:r>
              <a:rPr sz="1800" b="1" i="1" dirty="0">
                <a:latin typeface="Times New Roman"/>
                <a:cs typeface="Times New Roman"/>
              </a:rPr>
              <a:t> Qualifications</a:t>
            </a:r>
            <a:r>
              <a:rPr sz="1800" b="1" i="1" spc="5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and</a:t>
            </a:r>
            <a:r>
              <a:rPr sz="1800" b="1" i="1" spc="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Salary</a:t>
            </a:r>
            <a:r>
              <a:rPr sz="1800" b="1" i="1" spc="5" dirty="0">
                <a:latin typeface="Times New Roman"/>
                <a:cs typeface="Times New Roman"/>
              </a:rPr>
              <a:t> Impact</a:t>
            </a:r>
            <a:r>
              <a:rPr b="1" i="1" spc="5" dirty="0">
                <a:latin typeface="Times New Roman"/>
                <a:cs typeface="Times New Roman"/>
              </a:rPr>
              <a:t>:</a:t>
            </a:r>
            <a:r>
              <a:rPr b="1" i="1" spc="10" dirty="0">
                <a:latin typeface="Times New Roman"/>
                <a:cs typeface="Times New Roman"/>
              </a:rPr>
              <a:t> </a:t>
            </a:r>
            <a:r>
              <a:rPr spc="5" dirty="0"/>
              <a:t>Educational</a:t>
            </a:r>
            <a:r>
              <a:rPr spc="10" dirty="0"/>
              <a:t> </a:t>
            </a:r>
            <a:r>
              <a:rPr spc="20" dirty="0"/>
              <a:t>qualifications,</a:t>
            </a:r>
            <a:r>
              <a:rPr spc="25" dirty="0"/>
              <a:t> </a:t>
            </a:r>
            <a:r>
              <a:rPr spc="15" dirty="0"/>
              <a:t>particularly</a:t>
            </a:r>
            <a:r>
              <a:rPr spc="20" dirty="0"/>
              <a:t> </a:t>
            </a:r>
            <a:r>
              <a:rPr spc="5" dirty="0"/>
              <a:t>the</a:t>
            </a:r>
            <a:r>
              <a:rPr spc="10" dirty="0"/>
              <a:t> type</a:t>
            </a:r>
            <a:r>
              <a:rPr spc="15" dirty="0"/>
              <a:t> </a:t>
            </a:r>
            <a:r>
              <a:rPr spc="10" dirty="0"/>
              <a:t>of  </a:t>
            </a:r>
            <a:r>
              <a:rPr spc="15" dirty="0"/>
              <a:t>degree </a:t>
            </a:r>
            <a:r>
              <a:rPr spc="20" dirty="0"/>
              <a:t> </a:t>
            </a:r>
            <a:r>
              <a:rPr spc="10" dirty="0"/>
              <a:t>obtained, </a:t>
            </a:r>
            <a:r>
              <a:rPr dirty="0"/>
              <a:t>have </a:t>
            </a:r>
            <a:r>
              <a:rPr spc="15" dirty="0"/>
              <a:t>a </a:t>
            </a:r>
            <a:r>
              <a:rPr spc="20" dirty="0"/>
              <a:t>substantial </a:t>
            </a:r>
            <a:r>
              <a:rPr spc="25" dirty="0"/>
              <a:t>impact </a:t>
            </a:r>
            <a:r>
              <a:rPr spc="50" dirty="0"/>
              <a:t>on </a:t>
            </a:r>
            <a:r>
              <a:rPr spc="15" dirty="0"/>
              <a:t>salary levels. </a:t>
            </a:r>
            <a:r>
              <a:rPr spc="10" dirty="0"/>
              <a:t>For </a:t>
            </a:r>
            <a:r>
              <a:rPr spc="15" dirty="0"/>
              <a:t>instance, MCA </a:t>
            </a:r>
            <a:r>
              <a:rPr spc="10" dirty="0"/>
              <a:t>graduates </a:t>
            </a:r>
            <a:r>
              <a:rPr spc="15" dirty="0"/>
              <a:t>tend </a:t>
            </a:r>
            <a:r>
              <a:rPr spc="5" dirty="0"/>
              <a:t>to </a:t>
            </a:r>
            <a:r>
              <a:rPr spc="30" dirty="0"/>
              <a:t>earn </a:t>
            </a:r>
            <a:r>
              <a:rPr spc="20" dirty="0"/>
              <a:t>less </a:t>
            </a:r>
            <a:r>
              <a:rPr spc="30" dirty="0"/>
              <a:t>than those </a:t>
            </a:r>
            <a:r>
              <a:rPr spc="10" dirty="0"/>
              <a:t>with </a:t>
            </a:r>
            <a:r>
              <a:rPr spc="15" dirty="0"/>
              <a:t> </a:t>
            </a:r>
            <a:r>
              <a:rPr spc="5" dirty="0"/>
              <a:t>B.Tech/B.E.</a:t>
            </a:r>
            <a:r>
              <a:rPr spc="145" dirty="0"/>
              <a:t> </a:t>
            </a:r>
            <a:r>
              <a:rPr spc="15" dirty="0"/>
              <a:t>or </a:t>
            </a:r>
            <a:r>
              <a:rPr spc="10" dirty="0"/>
              <a:t>M.Tech/M.E.</a:t>
            </a:r>
            <a:r>
              <a:rPr spc="150" dirty="0"/>
              <a:t> </a:t>
            </a:r>
            <a:r>
              <a:rPr spc="10" dirty="0"/>
              <a:t>degrees.</a:t>
            </a:r>
            <a:endParaRPr sz="1800">
              <a:latin typeface="Times New Roman"/>
              <a:cs typeface="Times New Roman"/>
            </a:endParaRPr>
          </a:p>
          <a:p>
            <a:pPr marL="351155" marR="10160" indent="-339090" algn="just">
              <a:lnSpc>
                <a:spcPts val="1730"/>
              </a:lnSpc>
              <a:spcBef>
                <a:spcPts val="1225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spc="-5" dirty="0">
                <a:latin typeface="Times New Roman"/>
                <a:cs typeface="Times New Roman"/>
              </a:rPr>
              <a:t>Specializations </a:t>
            </a:r>
            <a:r>
              <a:rPr sz="1800" b="1" i="1" spc="-10" dirty="0">
                <a:latin typeface="Times New Roman"/>
                <a:cs typeface="Times New Roman"/>
              </a:rPr>
              <a:t>and </a:t>
            </a:r>
            <a:r>
              <a:rPr sz="1800" b="1" i="1" dirty="0">
                <a:latin typeface="Times New Roman"/>
                <a:cs typeface="Times New Roman"/>
              </a:rPr>
              <a:t>Salary </a:t>
            </a:r>
            <a:r>
              <a:rPr sz="1800" b="1" i="1" spc="-5" dirty="0">
                <a:latin typeface="Times New Roman"/>
                <a:cs typeface="Times New Roman"/>
              </a:rPr>
              <a:t>Trends: </a:t>
            </a:r>
            <a:r>
              <a:rPr spc="5" dirty="0"/>
              <a:t>Salary </a:t>
            </a:r>
            <a:r>
              <a:rPr spc="10" dirty="0"/>
              <a:t>trends vary </a:t>
            </a:r>
            <a:r>
              <a:rPr spc="30" dirty="0"/>
              <a:t>among </a:t>
            </a:r>
            <a:r>
              <a:rPr spc="20" dirty="0"/>
              <a:t>different specializations, </a:t>
            </a:r>
            <a:r>
              <a:rPr spc="25" dirty="0"/>
              <a:t>with </a:t>
            </a:r>
            <a:r>
              <a:rPr spc="15" dirty="0"/>
              <a:t>candidates </a:t>
            </a:r>
            <a:r>
              <a:rPr spc="40" dirty="0"/>
              <a:t>in </a:t>
            </a:r>
            <a:r>
              <a:rPr spc="20" dirty="0"/>
              <a:t>computer </a:t>
            </a:r>
            <a:r>
              <a:rPr spc="25" dirty="0"/>
              <a:t> </a:t>
            </a:r>
            <a:r>
              <a:rPr spc="10" dirty="0"/>
              <a:t>science</a:t>
            </a:r>
            <a:r>
              <a:rPr spc="15" dirty="0"/>
              <a:t> </a:t>
            </a:r>
            <a:r>
              <a:rPr spc="25" dirty="0"/>
              <a:t>&amp;</a:t>
            </a:r>
            <a:r>
              <a:rPr spc="30" dirty="0"/>
              <a:t> </a:t>
            </a:r>
            <a:r>
              <a:rPr spc="15" dirty="0"/>
              <a:t>engineering,</a:t>
            </a:r>
            <a:r>
              <a:rPr spc="20" dirty="0"/>
              <a:t> </a:t>
            </a:r>
            <a:r>
              <a:rPr spc="25" dirty="0"/>
              <a:t>information</a:t>
            </a:r>
            <a:r>
              <a:rPr spc="30" dirty="0"/>
              <a:t> </a:t>
            </a:r>
            <a:r>
              <a:rPr spc="20" dirty="0"/>
              <a:t>technology, and</a:t>
            </a:r>
            <a:r>
              <a:rPr spc="25" dirty="0"/>
              <a:t> </a:t>
            </a:r>
            <a:r>
              <a:rPr spc="15" dirty="0"/>
              <a:t>electronics</a:t>
            </a:r>
            <a:r>
              <a:rPr spc="20" dirty="0"/>
              <a:t> </a:t>
            </a:r>
            <a:r>
              <a:rPr spc="15" dirty="0"/>
              <a:t>engineering</a:t>
            </a:r>
            <a:r>
              <a:rPr spc="20" dirty="0"/>
              <a:t> </a:t>
            </a:r>
            <a:r>
              <a:rPr spc="10" dirty="0"/>
              <a:t>generally</a:t>
            </a:r>
            <a:r>
              <a:rPr spc="15" dirty="0"/>
              <a:t> </a:t>
            </a:r>
            <a:r>
              <a:rPr spc="30" dirty="0"/>
              <a:t>commanding</a:t>
            </a:r>
            <a:r>
              <a:rPr spc="35" dirty="0"/>
              <a:t> </a:t>
            </a:r>
            <a:r>
              <a:rPr spc="10" dirty="0"/>
              <a:t>higher</a:t>
            </a:r>
            <a:r>
              <a:rPr spc="15" dirty="0"/>
              <a:t> </a:t>
            </a:r>
            <a:r>
              <a:rPr spc="20" dirty="0"/>
              <a:t>salaries </a:t>
            </a:r>
            <a:r>
              <a:rPr spc="25" dirty="0"/>
              <a:t> </a:t>
            </a:r>
            <a:r>
              <a:rPr spc="5" dirty="0"/>
              <a:t>compared</a:t>
            </a:r>
            <a:r>
              <a:rPr spc="125" dirty="0"/>
              <a:t> </a:t>
            </a:r>
            <a:r>
              <a:rPr spc="5" dirty="0"/>
              <a:t>to</a:t>
            </a:r>
            <a:r>
              <a:rPr spc="40" dirty="0"/>
              <a:t> </a:t>
            </a:r>
            <a:r>
              <a:rPr dirty="0"/>
              <a:t>those</a:t>
            </a:r>
            <a:r>
              <a:rPr spc="125" dirty="0"/>
              <a:t> </a:t>
            </a:r>
            <a:r>
              <a:rPr spc="5" dirty="0"/>
              <a:t>in</a:t>
            </a:r>
            <a:r>
              <a:rPr spc="40" dirty="0"/>
              <a:t> </a:t>
            </a:r>
            <a:r>
              <a:rPr spc="10" dirty="0"/>
              <a:t>civil</a:t>
            </a:r>
            <a:r>
              <a:rPr spc="40" dirty="0"/>
              <a:t> </a:t>
            </a:r>
            <a:r>
              <a:rPr spc="-10" dirty="0"/>
              <a:t>engineering</a:t>
            </a:r>
            <a:r>
              <a:rPr spc="335" dirty="0"/>
              <a:t> </a:t>
            </a:r>
            <a:r>
              <a:rPr spc="10" dirty="0"/>
              <a:t>or</a:t>
            </a:r>
            <a:r>
              <a:rPr spc="25" dirty="0"/>
              <a:t> </a:t>
            </a:r>
            <a:r>
              <a:rPr spc="5" dirty="0"/>
              <a:t>computer</a:t>
            </a:r>
            <a:r>
              <a:rPr spc="170" dirty="0"/>
              <a:t> </a:t>
            </a:r>
            <a:r>
              <a:rPr spc="10" dirty="0"/>
              <a:t>application</a:t>
            </a:r>
            <a:r>
              <a:rPr spc="120" dirty="0"/>
              <a:t> </a:t>
            </a:r>
            <a:r>
              <a:rPr spc="10" dirty="0"/>
              <a:t>fields.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613867"/>
            <a:ext cx="2721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nclusi</a:t>
            </a: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32" y="2328735"/>
            <a:ext cx="10252710" cy="29324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1155" marR="15240" indent="-339090" algn="just">
              <a:lnSpc>
                <a:spcPts val="1800"/>
              </a:lnSpc>
              <a:spcBef>
                <a:spcPts val="459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spc="10" dirty="0">
                <a:latin typeface="Times New Roman"/>
                <a:cs typeface="Times New Roman"/>
              </a:rPr>
              <a:t>College </a:t>
            </a:r>
            <a:r>
              <a:rPr sz="1800" b="1" i="1" spc="-10" dirty="0">
                <a:latin typeface="Times New Roman"/>
                <a:cs typeface="Times New Roman"/>
              </a:rPr>
              <a:t>GPA </a:t>
            </a:r>
            <a:r>
              <a:rPr sz="1800" b="1" i="1" spc="10" dirty="0">
                <a:latin typeface="Times New Roman"/>
                <a:cs typeface="Times New Roman"/>
              </a:rPr>
              <a:t>and </a:t>
            </a:r>
            <a:r>
              <a:rPr sz="1800" b="1" i="1" spc="5" dirty="0">
                <a:latin typeface="Times New Roman"/>
                <a:cs typeface="Times New Roman"/>
              </a:rPr>
              <a:t>Its </a:t>
            </a:r>
            <a:r>
              <a:rPr sz="1800" b="1" i="1" spc="-10" dirty="0">
                <a:latin typeface="Times New Roman"/>
                <a:cs typeface="Times New Roman"/>
              </a:rPr>
              <a:t>Marginal </a:t>
            </a:r>
            <a:r>
              <a:rPr sz="1800" b="1" i="1" spc="-5" dirty="0">
                <a:latin typeface="Times New Roman"/>
                <a:cs typeface="Times New Roman"/>
              </a:rPr>
              <a:t>Impact: </a:t>
            </a:r>
            <a:r>
              <a:rPr sz="1550" dirty="0">
                <a:latin typeface="Times New Roman"/>
                <a:cs typeface="Times New Roman"/>
              </a:rPr>
              <a:t>While </a:t>
            </a:r>
            <a:r>
              <a:rPr sz="1550" spc="15" dirty="0">
                <a:latin typeface="Times New Roman"/>
                <a:cs typeface="Times New Roman"/>
              </a:rPr>
              <a:t>College GPA  </a:t>
            </a:r>
            <a:r>
              <a:rPr sz="1550" spc="-5" dirty="0">
                <a:latin typeface="Times New Roman"/>
                <a:cs typeface="Times New Roman"/>
              </a:rPr>
              <a:t>may </a:t>
            </a:r>
            <a:r>
              <a:rPr sz="1550" dirty="0">
                <a:latin typeface="Times New Roman"/>
                <a:cs typeface="Times New Roman"/>
              </a:rPr>
              <a:t>have </a:t>
            </a:r>
            <a:r>
              <a:rPr sz="1550" spc="20" dirty="0">
                <a:latin typeface="Times New Roman"/>
                <a:cs typeface="Times New Roman"/>
              </a:rPr>
              <a:t>some correlation </a:t>
            </a:r>
            <a:r>
              <a:rPr sz="1550" spc="25" dirty="0">
                <a:latin typeface="Times New Roman"/>
                <a:cs typeface="Times New Roman"/>
              </a:rPr>
              <a:t>with </a:t>
            </a:r>
            <a:r>
              <a:rPr sz="1550" spc="15" dirty="0">
                <a:latin typeface="Times New Roman"/>
                <a:cs typeface="Times New Roman"/>
              </a:rPr>
              <a:t>salary </a:t>
            </a:r>
            <a:r>
              <a:rPr sz="1550" spc="25" dirty="0">
                <a:latin typeface="Times New Roman"/>
                <a:cs typeface="Times New Roman"/>
              </a:rPr>
              <a:t>levels, </a:t>
            </a:r>
            <a:r>
              <a:rPr sz="1550" dirty="0">
                <a:latin typeface="Times New Roman"/>
                <a:cs typeface="Times New Roman"/>
              </a:rPr>
              <a:t>its 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impact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appears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marginal</a:t>
            </a:r>
            <a:r>
              <a:rPr sz="1550" spc="3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compared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other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factors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such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educational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qualifications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job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designation.</a:t>
            </a:r>
            <a:endParaRPr sz="1550">
              <a:latin typeface="Times New Roman"/>
              <a:cs typeface="Times New Roman"/>
            </a:endParaRPr>
          </a:p>
          <a:p>
            <a:pPr marL="351155" marR="24130" indent="-339090" algn="just">
              <a:lnSpc>
                <a:spcPts val="1730"/>
              </a:lnSpc>
              <a:spcBef>
                <a:spcPts val="1145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spc="20" dirty="0">
                <a:latin typeface="Times New Roman"/>
                <a:cs typeface="Times New Roman"/>
              </a:rPr>
              <a:t>Job </a:t>
            </a:r>
            <a:r>
              <a:rPr sz="1800" b="1" i="1" spc="-5" dirty="0">
                <a:latin typeface="Times New Roman"/>
                <a:cs typeface="Times New Roman"/>
              </a:rPr>
              <a:t>Designations </a:t>
            </a:r>
            <a:r>
              <a:rPr sz="1800" b="1" i="1" spc="-15" dirty="0">
                <a:latin typeface="Times New Roman"/>
                <a:cs typeface="Times New Roman"/>
              </a:rPr>
              <a:t>and </a:t>
            </a:r>
            <a:r>
              <a:rPr sz="1800" b="1" i="1" dirty="0">
                <a:latin typeface="Times New Roman"/>
                <a:cs typeface="Times New Roman"/>
              </a:rPr>
              <a:t>City </a:t>
            </a:r>
            <a:r>
              <a:rPr sz="1800" b="1" i="1" spc="-5" dirty="0">
                <a:latin typeface="Times New Roman"/>
                <a:cs typeface="Times New Roman"/>
              </a:rPr>
              <a:t>Distribution: </a:t>
            </a:r>
            <a:r>
              <a:rPr sz="1550" spc="10" dirty="0">
                <a:latin typeface="Times New Roman"/>
                <a:cs typeface="Times New Roman"/>
              </a:rPr>
              <a:t>Various job </a:t>
            </a:r>
            <a:r>
              <a:rPr sz="1550" spc="15" dirty="0">
                <a:latin typeface="Times New Roman"/>
                <a:cs typeface="Times New Roman"/>
              </a:rPr>
              <a:t>designations </a:t>
            </a:r>
            <a:r>
              <a:rPr sz="1550" spc="30" dirty="0">
                <a:latin typeface="Times New Roman"/>
                <a:cs typeface="Times New Roman"/>
              </a:rPr>
              <a:t>are </a:t>
            </a:r>
            <a:r>
              <a:rPr sz="1550" spc="15" dirty="0">
                <a:latin typeface="Times New Roman"/>
                <a:cs typeface="Times New Roman"/>
              </a:rPr>
              <a:t>spread </a:t>
            </a:r>
            <a:r>
              <a:rPr sz="1550" spc="20" dirty="0">
                <a:latin typeface="Times New Roman"/>
                <a:cs typeface="Times New Roman"/>
              </a:rPr>
              <a:t>across </a:t>
            </a:r>
            <a:r>
              <a:rPr sz="1550" spc="10" dirty="0">
                <a:latin typeface="Times New Roman"/>
                <a:cs typeface="Times New Roman"/>
              </a:rPr>
              <a:t>different </a:t>
            </a:r>
            <a:r>
              <a:rPr sz="1550" spc="25" dirty="0">
                <a:latin typeface="Times New Roman"/>
                <a:cs typeface="Times New Roman"/>
              </a:rPr>
              <a:t>cities, </a:t>
            </a:r>
            <a:r>
              <a:rPr sz="1550" spc="40" dirty="0">
                <a:latin typeface="Times New Roman"/>
                <a:cs typeface="Times New Roman"/>
              </a:rPr>
              <a:t>each </a:t>
            </a:r>
            <a:r>
              <a:rPr sz="1550" spc="10" dirty="0">
                <a:latin typeface="Times New Roman"/>
                <a:cs typeface="Times New Roman"/>
              </a:rPr>
              <a:t>with </a:t>
            </a:r>
            <a:r>
              <a:rPr sz="1550" dirty="0">
                <a:latin typeface="Times New Roman"/>
                <a:cs typeface="Times New Roman"/>
              </a:rPr>
              <a:t>its 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unique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salary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structures,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highlighting</a:t>
            </a:r>
            <a:r>
              <a:rPr sz="1550" spc="34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importance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of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geographical</a:t>
            </a:r>
            <a:r>
              <a:rPr sz="1550" spc="3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location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salary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negotiations.</a:t>
            </a:r>
            <a:endParaRPr sz="1550">
              <a:latin typeface="Times New Roman"/>
              <a:cs typeface="Times New Roman"/>
            </a:endParaRPr>
          </a:p>
          <a:p>
            <a:pPr marL="351155" marR="5080" indent="-339090" algn="just">
              <a:lnSpc>
                <a:spcPts val="1730"/>
              </a:lnSpc>
              <a:spcBef>
                <a:spcPts val="1225"/>
              </a:spcBef>
              <a:buFont typeface="Arial MT"/>
              <a:buChar char="•"/>
              <a:tabLst>
                <a:tab pos="35179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Gender-specific</a:t>
            </a:r>
            <a:r>
              <a:rPr sz="1800" b="1" i="1" spc="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Characteristics</a:t>
            </a:r>
            <a:r>
              <a:rPr sz="1800" b="1" i="1" spc="5" dirty="0">
                <a:latin typeface="Times New Roman"/>
                <a:cs typeface="Times New Roman"/>
              </a:rPr>
              <a:t> </a:t>
            </a:r>
            <a:r>
              <a:rPr sz="1800" b="1" i="1" spc="15" dirty="0">
                <a:latin typeface="Times New Roman"/>
                <a:cs typeface="Times New Roman"/>
              </a:rPr>
              <a:t>of</a:t>
            </a:r>
            <a:r>
              <a:rPr sz="1800" b="1" i="1" spc="20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Job</a:t>
            </a:r>
            <a:r>
              <a:rPr sz="1800" b="1" i="1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Designations</a:t>
            </a:r>
            <a:r>
              <a:rPr sz="1800" b="1" i="1" dirty="0">
                <a:latin typeface="Times New Roman"/>
                <a:cs typeface="Times New Roman"/>
              </a:rPr>
              <a:t> </a:t>
            </a:r>
            <a:r>
              <a:rPr sz="1800" b="1" i="1" spc="10" dirty="0">
                <a:latin typeface="Times New Roman"/>
                <a:cs typeface="Times New Roman"/>
              </a:rPr>
              <a:t>and</a:t>
            </a:r>
            <a:r>
              <a:rPr sz="1800" b="1" i="1" spc="15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Specializations:</a:t>
            </a:r>
            <a:r>
              <a:rPr sz="1800" b="1" i="1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Certain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job</a:t>
            </a:r>
            <a:r>
              <a:rPr sz="1550" spc="15" dirty="0">
                <a:latin typeface="Times New Roman"/>
                <a:cs typeface="Times New Roman"/>
              </a:rPr>
              <a:t> designations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 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specializations </a:t>
            </a:r>
            <a:r>
              <a:rPr sz="1550" spc="10" dirty="0">
                <a:latin typeface="Times New Roman"/>
                <a:cs typeface="Times New Roman"/>
              </a:rPr>
              <a:t>exhibit gender-specific </a:t>
            </a:r>
            <a:r>
              <a:rPr sz="1550" spc="15" dirty="0">
                <a:latin typeface="Times New Roman"/>
                <a:cs typeface="Times New Roman"/>
              </a:rPr>
              <a:t>characteristics, </a:t>
            </a:r>
            <a:r>
              <a:rPr sz="1550" spc="25" dirty="0">
                <a:latin typeface="Times New Roman"/>
                <a:cs typeface="Times New Roman"/>
              </a:rPr>
              <a:t>indicating </a:t>
            </a:r>
            <a:r>
              <a:rPr sz="1550" spc="20" dirty="0">
                <a:latin typeface="Times New Roman"/>
                <a:cs typeface="Times New Roman"/>
              </a:rPr>
              <a:t>potential </a:t>
            </a:r>
            <a:r>
              <a:rPr sz="1550" spc="15" dirty="0">
                <a:latin typeface="Times New Roman"/>
                <a:cs typeface="Times New Roman"/>
              </a:rPr>
              <a:t>disparities </a:t>
            </a:r>
            <a:r>
              <a:rPr sz="1550" spc="5" dirty="0">
                <a:latin typeface="Times New Roman"/>
                <a:cs typeface="Times New Roman"/>
              </a:rPr>
              <a:t>in </a:t>
            </a:r>
            <a:r>
              <a:rPr sz="1550" spc="20" dirty="0">
                <a:latin typeface="Times New Roman"/>
                <a:cs typeface="Times New Roman"/>
              </a:rPr>
              <a:t>occupational distribution across 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genders.</a:t>
            </a:r>
            <a:endParaRPr sz="1550">
              <a:latin typeface="Times New Roman"/>
              <a:cs typeface="Times New Roman"/>
            </a:endParaRPr>
          </a:p>
          <a:p>
            <a:pPr marL="12700" marR="8890" algn="just">
              <a:lnSpc>
                <a:spcPts val="1730"/>
              </a:lnSpc>
              <a:spcBef>
                <a:spcPts val="1015"/>
              </a:spcBef>
            </a:pPr>
            <a:r>
              <a:rPr sz="1550" spc="10" dirty="0">
                <a:latin typeface="Times New Roman"/>
                <a:cs typeface="Times New Roman"/>
              </a:rPr>
              <a:t>Overall,</a:t>
            </a:r>
            <a:r>
              <a:rPr sz="1550" spc="15" dirty="0">
                <a:latin typeface="Times New Roman"/>
                <a:cs typeface="Times New Roman"/>
              </a:rPr>
              <a:t> these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observations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suggest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that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while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factors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such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job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designation,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geographical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location, and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educational 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qualifications significantly influence salary levels, </a:t>
            </a:r>
            <a:r>
              <a:rPr sz="1550" spc="20" dirty="0">
                <a:latin typeface="Times New Roman"/>
                <a:cs typeface="Times New Roman"/>
              </a:rPr>
              <a:t>gender </a:t>
            </a:r>
            <a:r>
              <a:rPr sz="1550" spc="15" dirty="0">
                <a:latin typeface="Times New Roman"/>
                <a:cs typeface="Times New Roman"/>
              </a:rPr>
              <a:t>does </a:t>
            </a:r>
            <a:r>
              <a:rPr sz="1550" spc="10" dirty="0">
                <a:latin typeface="Times New Roman"/>
                <a:cs typeface="Times New Roman"/>
              </a:rPr>
              <a:t>not </a:t>
            </a:r>
            <a:r>
              <a:rPr sz="1550" spc="25" dirty="0">
                <a:latin typeface="Times New Roman"/>
                <a:cs typeface="Times New Roman"/>
              </a:rPr>
              <a:t>seem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spc="10" dirty="0">
                <a:latin typeface="Times New Roman"/>
                <a:cs typeface="Times New Roman"/>
              </a:rPr>
              <a:t>be </a:t>
            </a:r>
            <a:r>
              <a:rPr sz="1550" spc="15" dirty="0">
                <a:latin typeface="Times New Roman"/>
                <a:cs typeface="Times New Roman"/>
              </a:rPr>
              <a:t>a </a:t>
            </a:r>
            <a:r>
              <a:rPr sz="1550" spc="20" dirty="0">
                <a:latin typeface="Times New Roman"/>
                <a:cs typeface="Times New Roman"/>
              </a:rPr>
              <a:t>determining factor </a:t>
            </a:r>
            <a:r>
              <a:rPr sz="1550" spc="40" dirty="0">
                <a:latin typeface="Times New Roman"/>
                <a:cs typeface="Times New Roman"/>
              </a:rPr>
              <a:t>in </a:t>
            </a:r>
            <a:r>
              <a:rPr sz="1550" spc="20" dirty="0">
                <a:latin typeface="Times New Roman"/>
                <a:cs typeface="Times New Roman"/>
              </a:rPr>
              <a:t>earning </a:t>
            </a:r>
            <a:r>
              <a:rPr sz="1550" spc="15" dirty="0">
                <a:latin typeface="Times New Roman"/>
                <a:cs typeface="Times New Roman"/>
              </a:rPr>
              <a:t>potential. 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Additionally, disparities </a:t>
            </a:r>
            <a:r>
              <a:rPr sz="1550" spc="40" dirty="0">
                <a:latin typeface="Times New Roman"/>
                <a:cs typeface="Times New Roman"/>
              </a:rPr>
              <a:t>in </a:t>
            </a:r>
            <a:r>
              <a:rPr sz="1550" spc="15" dirty="0">
                <a:latin typeface="Times New Roman"/>
                <a:cs typeface="Times New Roman"/>
              </a:rPr>
              <a:t>salary </a:t>
            </a:r>
            <a:r>
              <a:rPr sz="1550" spc="10" dirty="0">
                <a:latin typeface="Times New Roman"/>
                <a:cs typeface="Times New Roman"/>
              </a:rPr>
              <a:t>levels </a:t>
            </a:r>
            <a:r>
              <a:rPr sz="1550" spc="20" dirty="0">
                <a:latin typeface="Times New Roman"/>
                <a:cs typeface="Times New Roman"/>
              </a:rPr>
              <a:t>exist across </a:t>
            </a:r>
            <a:r>
              <a:rPr sz="1550" spc="15" dirty="0">
                <a:latin typeface="Times New Roman"/>
                <a:cs typeface="Times New Roman"/>
              </a:rPr>
              <a:t>different </a:t>
            </a:r>
            <a:r>
              <a:rPr sz="1550" spc="20" dirty="0">
                <a:latin typeface="Times New Roman"/>
                <a:cs typeface="Times New Roman"/>
              </a:rPr>
              <a:t>specializations, highlighting </a:t>
            </a:r>
            <a:r>
              <a:rPr sz="1550" spc="5" dirty="0">
                <a:latin typeface="Times New Roman"/>
                <a:cs typeface="Times New Roman"/>
              </a:rPr>
              <a:t>the </a:t>
            </a:r>
            <a:r>
              <a:rPr sz="1550" spc="25" dirty="0">
                <a:latin typeface="Times New Roman"/>
                <a:cs typeface="Times New Roman"/>
              </a:rPr>
              <a:t>importance </a:t>
            </a:r>
            <a:r>
              <a:rPr sz="1550" spc="10" dirty="0">
                <a:latin typeface="Times New Roman"/>
                <a:cs typeface="Times New Roman"/>
              </a:rPr>
              <a:t>of </a:t>
            </a:r>
            <a:r>
              <a:rPr sz="1550" spc="20" dirty="0">
                <a:latin typeface="Times New Roman"/>
                <a:cs typeface="Times New Roman"/>
              </a:rPr>
              <a:t>considering 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multiple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factors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understanding</a:t>
            </a:r>
            <a:r>
              <a:rPr sz="1550" spc="3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salary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trends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and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making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informed</a:t>
            </a:r>
            <a:r>
              <a:rPr sz="1550" spc="2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career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decisions.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1395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MT</vt:lpstr>
      <vt:lpstr>Calibri</vt:lpstr>
      <vt:lpstr>Palatino Linotype</vt:lpstr>
      <vt:lpstr>Tahoma</vt:lpstr>
      <vt:lpstr>Times New Roman</vt:lpstr>
      <vt:lpstr>Wingdings</vt:lpstr>
      <vt:lpstr>Office Theme</vt:lpstr>
      <vt:lpstr>AMCAT Exploratory Data Analysis Project</vt:lpstr>
      <vt:lpstr>About me</vt:lpstr>
      <vt:lpstr>Objective of the Project</vt:lpstr>
      <vt:lpstr>Summary of the data</vt:lpstr>
      <vt:lpstr>Exploratory Data Analysis</vt:lpstr>
      <vt:lpstr>Exploratory Data Analysis</vt:lpstr>
      <vt:lpstr>Insights from Univariate Analysis</vt:lpstr>
      <vt:lpstr>Insights from Univariate Analysis</vt:lpstr>
      <vt:lpstr>Bivariate Analysis</vt:lpstr>
      <vt:lpstr>Bivariate Analysis</vt:lpstr>
      <vt:lpstr>Bivariate Analysis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Divekar</cp:lastModifiedBy>
  <cp:revision>2</cp:revision>
  <dcterms:created xsi:type="dcterms:W3CDTF">2024-08-15T05:08:43Z</dcterms:created>
  <dcterms:modified xsi:type="dcterms:W3CDTF">2025-07-10T08:31:46Z</dcterms:modified>
</cp:coreProperties>
</file>